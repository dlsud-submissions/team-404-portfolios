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embeddedFontLst>
    <p:embeddedFont>
      <p:font typeface="Robot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Roboto-bold.fntdata"/><Relationship Id="rId12" Type="http://schemas.openxmlformats.org/officeDocument/2006/relationships/slide" Target="slides/slide7.xml"/><Relationship Id="rId34" Type="http://schemas.openxmlformats.org/officeDocument/2006/relationships/font" Target="fonts/Roboto-regular.fntdata"/><Relationship Id="rId15" Type="http://schemas.openxmlformats.org/officeDocument/2006/relationships/slide" Target="slides/slide10.xml"/><Relationship Id="rId37" Type="http://schemas.openxmlformats.org/officeDocument/2006/relationships/font" Target="fonts/Roboto-boldItalic.fntdata"/><Relationship Id="rId14" Type="http://schemas.openxmlformats.org/officeDocument/2006/relationships/slide" Target="slides/slide9.xml"/><Relationship Id="rId36" Type="http://schemas.openxmlformats.org/officeDocument/2006/relationships/font" Target="fonts/Roboto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4acb740da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4acb740da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4acb740da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4acb740da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4da8de92d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4da8de92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4da8de92d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4da8de92d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d48e53e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8d48e53e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8d48e53e08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8d48e53e08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9a1fb1fdca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9a1fb1fdca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9e6ce3116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9e6ce3116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70ea5616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70ea5616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9e6ce3116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9e6ce3116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9e6ce31160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9e6ce3116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5d183194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5d183194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637aafa62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637aafa6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602dd6d23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602dd6d2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637aafa62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637aafa62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94850e169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94850e169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9a1fb1fdca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9a1fb1fdca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9a1fb1fdca_2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9a1fb1fdca_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9a1fb1fdca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9a1fb1fdca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9e6ce3116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9e6ce3116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9e6ce3116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9e6ce3116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651733a4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651733a4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702ef226b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702ef226b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5d18931cb7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5d18931cb7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637aafa621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2637aafa62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6e9a7bd30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26e9a7bd30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4c3ce76d1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4c3ce76d1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139800" y="148025"/>
            <a:ext cx="1027800" cy="937500"/>
          </a:xfrm>
          <a:prstGeom prst="rect">
            <a:avLst/>
          </a:prstGeom>
          <a:solidFill>
            <a:srgbClr val="0831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0" y="1149075"/>
            <a:ext cx="5710500" cy="27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237375" y="3973550"/>
            <a:ext cx="3911700" cy="9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132833" y="456886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" name="Google Shape;15;p2" title="DLSUD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779" y="139796"/>
            <a:ext cx="789375" cy="78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132833" y="456886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236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809600"/>
            <a:ext cx="8520600" cy="37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132833" y="456886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236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132833" y="456886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418025" y="1345725"/>
            <a:ext cx="4990800" cy="57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5026"/>
              </a:buClr>
              <a:buSzPts val="2800"/>
              <a:buNone/>
              <a:defRPr>
                <a:solidFill>
                  <a:srgbClr val="0050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132833" y="456886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132833" y="456886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132833" y="456886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132833" y="456886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132833" y="456886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132833" y="456886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132833" y="456886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36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809600"/>
            <a:ext cx="8520600" cy="3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32833" y="45688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sz="1000">
                <a:solidFill>
                  <a:schemeClr val="dk2"/>
                </a:solidFill>
              </a:defRPr>
            </a:lvl1pPr>
            <a:lvl2pPr lvl="1">
              <a:buNone/>
              <a:defRPr sz="1000">
                <a:solidFill>
                  <a:schemeClr val="dk2"/>
                </a:solidFill>
              </a:defRPr>
            </a:lvl2pPr>
            <a:lvl3pPr lvl="2">
              <a:buNone/>
              <a:defRPr sz="1000">
                <a:solidFill>
                  <a:schemeClr val="dk2"/>
                </a:solidFill>
              </a:defRPr>
            </a:lvl3pPr>
            <a:lvl4pPr lvl="3">
              <a:buNone/>
              <a:defRPr sz="1000">
                <a:solidFill>
                  <a:schemeClr val="dk2"/>
                </a:solidFill>
              </a:defRPr>
            </a:lvl4pPr>
            <a:lvl5pPr lvl="4">
              <a:buNone/>
              <a:defRPr sz="1000">
                <a:solidFill>
                  <a:schemeClr val="dk2"/>
                </a:solidFill>
              </a:defRPr>
            </a:lvl5pPr>
            <a:lvl6pPr lvl="5">
              <a:buNone/>
              <a:defRPr sz="1000">
                <a:solidFill>
                  <a:schemeClr val="dk2"/>
                </a:solidFill>
              </a:defRPr>
            </a:lvl6pPr>
            <a:lvl7pPr lvl="6">
              <a:buNone/>
              <a:defRPr sz="1000">
                <a:solidFill>
                  <a:schemeClr val="dk2"/>
                </a:solidFill>
              </a:defRPr>
            </a:lvl7pPr>
            <a:lvl8pPr lvl="7">
              <a:buNone/>
              <a:defRPr sz="1000">
                <a:solidFill>
                  <a:schemeClr val="dk2"/>
                </a:solidFill>
              </a:defRPr>
            </a:lvl8pPr>
            <a:lvl9pPr lvl="8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 title="DLSUD Logo.png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577800" y="4568875"/>
            <a:ext cx="473100" cy="4731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learningactors.com/javascript-guard-clauses-how-you-can-refactor-conditional-logic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5" Type="http://schemas.openxmlformats.org/officeDocument/2006/relationships/image" Target="../media/image1.png"/><Relationship Id="rId6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>
            <p:ph type="ctrTitle"/>
          </p:nvPr>
        </p:nvSpPr>
        <p:spPr>
          <a:xfrm>
            <a:off x="311700" y="1149075"/>
            <a:ext cx="5710500" cy="27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Guidelines and Best Practices</a:t>
            </a:r>
            <a:endParaRPr/>
          </a:p>
        </p:txBody>
      </p:sp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237375" y="3973550"/>
            <a:ext cx="3911700" cy="9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Author: Steven Villarosa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236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HTML and CSS Guidelines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888550"/>
            <a:ext cx="8520600" cy="7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Observe proper indentation.</a:t>
            </a:r>
            <a:endParaRPr sz="2000">
              <a:solidFill>
                <a:srgbClr val="1B1B1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5" name="Google Shape;65;p14"/>
          <p:cNvGrpSpPr/>
          <p:nvPr/>
        </p:nvGrpSpPr>
        <p:grpSpPr>
          <a:xfrm>
            <a:off x="686250" y="1606750"/>
            <a:ext cx="3189600" cy="3136200"/>
            <a:chOff x="686250" y="2007425"/>
            <a:chExt cx="3189600" cy="3136200"/>
          </a:xfrm>
        </p:grpSpPr>
        <p:sp>
          <p:nvSpPr>
            <p:cNvPr id="66" name="Google Shape;66;p14"/>
            <p:cNvSpPr txBox="1"/>
            <p:nvPr/>
          </p:nvSpPr>
          <p:spPr>
            <a:xfrm>
              <a:off x="1272825" y="2191050"/>
              <a:ext cx="2154300" cy="183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.solid {</a:t>
              </a:r>
              <a:endParaRPr sz="18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color: green;</a:t>
              </a:r>
              <a:endParaRPr sz="18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font-weight: 700;</a:t>
              </a:r>
              <a:endParaRPr sz="18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}</a:t>
              </a:r>
              <a:endParaRPr sz="1800"/>
            </a:p>
          </p:txBody>
        </p:sp>
        <p:pic>
          <p:nvPicPr>
            <p:cNvPr id="67" name="Google Shape;67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72824" y="3263625"/>
              <a:ext cx="1823000" cy="1629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" name="Google Shape;68;p14"/>
            <p:cNvSpPr/>
            <p:nvPr/>
          </p:nvSpPr>
          <p:spPr>
            <a:xfrm>
              <a:off x="686250" y="2007425"/>
              <a:ext cx="3189600" cy="31362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" name="Google Shape;69;p14"/>
          <p:cNvGrpSpPr/>
          <p:nvPr/>
        </p:nvGrpSpPr>
        <p:grpSpPr>
          <a:xfrm>
            <a:off x="4709213" y="1606750"/>
            <a:ext cx="3189600" cy="3136200"/>
            <a:chOff x="4709213" y="2007425"/>
            <a:chExt cx="3189600" cy="3136200"/>
          </a:xfrm>
        </p:grpSpPr>
        <p:sp>
          <p:nvSpPr>
            <p:cNvPr id="70" name="Google Shape;70;p14"/>
            <p:cNvSpPr txBox="1"/>
            <p:nvPr/>
          </p:nvSpPr>
          <p:spPr>
            <a:xfrm>
              <a:off x="4994775" y="2191050"/>
              <a:ext cx="2154300" cy="183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.solid </a:t>
              </a:r>
              <a:endParaRPr sz="18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{</a:t>
              </a:r>
              <a:endParaRPr sz="18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color: green;</a:t>
              </a:r>
              <a:endParaRPr sz="18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  font-weight: 700;</a:t>
              </a:r>
              <a:endParaRPr sz="18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}</a:t>
              </a:r>
              <a:endParaRPr sz="1800"/>
            </a:p>
          </p:txBody>
        </p:sp>
        <p:pic>
          <p:nvPicPr>
            <p:cNvPr id="71" name="Google Shape;71;p14"/>
            <p:cNvPicPr preferRelativeResize="0"/>
            <p:nvPr/>
          </p:nvPicPr>
          <p:blipFill rotWithShape="1">
            <a:blip r:embed="rId4">
              <a:alphaModFix/>
            </a:blip>
            <a:srcRect b="11111" l="0" r="0" t="0"/>
            <a:stretch/>
          </p:blipFill>
          <p:spPr>
            <a:xfrm>
              <a:off x="5458950" y="3529125"/>
              <a:ext cx="1690125" cy="1502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" name="Google Shape;72;p14"/>
            <p:cNvSpPr/>
            <p:nvPr/>
          </p:nvSpPr>
          <p:spPr>
            <a:xfrm>
              <a:off x="4709213" y="2007425"/>
              <a:ext cx="3189600" cy="31362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11700" y="236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HTML and CSS Guidelines</a:t>
            </a:r>
            <a:endParaRPr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311700" y="888550"/>
            <a:ext cx="8520600" cy="39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460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ct val="100000"/>
              <a:buFont typeface="Roboto"/>
              <a:buChar char="●"/>
            </a:pPr>
            <a:r>
              <a:rPr lang="en" sz="2000">
                <a:solidFill>
                  <a:srgbClr val="1B1B1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Separate every css block with a single space.</a:t>
            </a:r>
            <a:endParaRPr sz="2000">
              <a:solidFill>
                <a:srgbClr val="1B1B1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60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ct val="100000"/>
              <a:buFont typeface="Roboto"/>
              <a:buChar char="●"/>
            </a:pPr>
            <a:r>
              <a:rPr lang="en" sz="2000">
                <a:solidFill>
                  <a:srgbClr val="1B1B1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Add a single space after the selector/s and before "{".</a:t>
            </a:r>
            <a:endParaRPr sz="2000">
              <a:solidFill>
                <a:srgbClr val="1B1B1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B1B1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.solid {</a:t>
            </a:r>
            <a:endParaRPr sz="2000">
              <a:solidFill>
                <a:srgbClr val="1B1B1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B1B1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 color: green;</a:t>
            </a:r>
            <a:endParaRPr sz="2000">
              <a:solidFill>
                <a:srgbClr val="1B1B1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B1B1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 font-weight: 700;</a:t>
            </a:r>
            <a:endParaRPr sz="2000">
              <a:solidFill>
                <a:srgbClr val="1B1B1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B1B1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}</a:t>
            </a:r>
            <a:endParaRPr sz="2000">
              <a:solidFill>
                <a:srgbClr val="1B1B1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B1B1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B1B1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.liquid {</a:t>
            </a:r>
            <a:endParaRPr sz="2000">
              <a:solidFill>
                <a:srgbClr val="1B1B1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B1B1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 color: red;</a:t>
            </a:r>
            <a:endParaRPr sz="2000">
              <a:solidFill>
                <a:srgbClr val="1B1B1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B1B1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}</a:t>
            </a:r>
            <a:endParaRPr sz="2000">
              <a:solidFill>
                <a:srgbClr val="1B1B1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236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HTML and CSS Guidelines</a:t>
            </a:r>
            <a:endParaRPr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11700" y="888550"/>
            <a:ext cx="8520600" cy="13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rgbClr val="1B1B1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There should be max of 80 col per line. Excess characters should be entered in a new line or attributes separated by new lines.</a:t>
            </a:r>
            <a:endParaRPr sz="2000">
              <a:solidFill>
                <a:srgbClr val="1B1B1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903563"/>
            <a:ext cx="8580772" cy="8831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" name="Google Shape;86;p16"/>
          <p:cNvGrpSpPr/>
          <p:nvPr/>
        </p:nvGrpSpPr>
        <p:grpSpPr>
          <a:xfrm>
            <a:off x="3663275" y="2862113"/>
            <a:ext cx="4350750" cy="2162175"/>
            <a:chOff x="3663275" y="2862113"/>
            <a:chExt cx="4350750" cy="2162175"/>
          </a:xfrm>
        </p:grpSpPr>
        <p:pic>
          <p:nvPicPr>
            <p:cNvPr id="87" name="Google Shape;87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251775" y="2862113"/>
              <a:ext cx="2762250" cy="2162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" name="Google Shape;88;p16"/>
            <p:cNvSpPr/>
            <p:nvPr/>
          </p:nvSpPr>
          <p:spPr>
            <a:xfrm rot="5400000">
              <a:off x="3599825" y="2925572"/>
              <a:ext cx="1563000" cy="1436100"/>
            </a:xfrm>
            <a:prstGeom prst="bentUpArrow">
              <a:avLst>
                <a:gd fmla="val 8713" name="adj1"/>
                <a:gd fmla="val 11052" name="adj2"/>
                <a:gd fmla="val 22679" name="adj3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16"/>
          <p:cNvSpPr txBox="1"/>
          <p:nvPr/>
        </p:nvSpPr>
        <p:spPr>
          <a:xfrm>
            <a:off x="356625" y="3376425"/>
            <a:ext cx="3029100" cy="13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Very minor exceptions are allowed such as long URLs.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311700" y="236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HTML and CSS Guidelines</a:t>
            </a:r>
            <a:endParaRPr/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311700" y="888550"/>
            <a:ext cx="8520600" cy="39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rgbClr val="1B1B1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Remove unnecessary comments.</a:t>
            </a:r>
            <a:endParaRPr sz="2000">
              <a:solidFill>
                <a:srgbClr val="1B1B1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rgbClr val="1B1B1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Class names should be written in kebab case. All lower case separated by </a:t>
            </a:r>
            <a:r>
              <a:rPr lang="en" sz="2000">
                <a:solidFill>
                  <a:srgbClr val="1B1B1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hyphen</a:t>
            </a:r>
            <a:r>
              <a:rPr lang="en" sz="2000">
                <a:solidFill>
                  <a:srgbClr val="1B1B1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2000">
              <a:solidFill>
                <a:srgbClr val="1B1B1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B1B1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class=”save-button”</a:t>
            </a:r>
            <a:endParaRPr sz="2000">
              <a:solidFill>
                <a:srgbClr val="1B1B1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B1B1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class=”cancel-button”</a:t>
            </a:r>
            <a:endParaRPr sz="2000">
              <a:solidFill>
                <a:srgbClr val="1B1B1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rgbClr val="1B1B1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IDs should be written in snake case. All lower case separated by underscore.</a:t>
            </a:r>
            <a:endParaRPr sz="2000">
              <a:solidFill>
                <a:srgbClr val="1B1B1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B1B1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		</a:t>
            </a:r>
            <a:r>
              <a:rPr lang="en" sz="2000">
                <a:solidFill>
                  <a:srgbClr val="1B1B1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id=”main_content”</a:t>
            </a:r>
            <a:endParaRPr sz="2000">
              <a:solidFill>
                <a:srgbClr val="1B1B1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B1B1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		id=”nav_item_one”</a:t>
            </a:r>
            <a:endParaRPr sz="2000">
              <a:solidFill>
                <a:srgbClr val="1B1B1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236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HTML and CSS Guidelines</a:t>
            </a:r>
            <a:endParaRPr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311700" y="888550"/>
            <a:ext cx="8520600" cy="37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rgbClr val="1B1B1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Always do a mobile first approach when styling.</a:t>
            </a:r>
            <a:endParaRPr sz="2000">
              <a:solidFill>
                <a:srgbClr val="1B1B1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/* Mobile S   */ @media (max-width: 320px) {...}</a:t>
            </a:r>
            <a:endParaRPr sz="20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/* Mobile M  */ @media (min-width: 321px) and (max-width: 375px) {...}</a:t>
            </a:r>
            <a:endParaRPr sz="20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/* Mobile L   */ @media (min-width: 376px) and (max-width: 425px) {...}</a:t>
            </a:r>
            <a:endParaRPr sz="20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/* Tablet       */ @media (min-width: 426px) and (max-width: 768px) {...}</a:t>
            </a:r>
            <a:endParaRPr sz="20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/* Laptop     */ @media (min-width: 769px) and (max-width: 1024px) {...}</a:t>
            </a:r>
            <a:endParaRPr sz="20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/* &amp; Above   */ @media (min-width: 1025px) {...}</a:t>
            </a:r>
            <a:endParaRPr sz="20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236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HTML and CSS Guidelines</a:t>
            </a:r>
            <a:endParaRPr/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311700" y="888550"/>
            <a:ext cx="8520600" cy="39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rgbClr val="1B1B1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 HTML,</a:t>
            </a:r>
            <a:r>
              <a:rPr lang="en" sz="20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there should be no space</a:t>
            </a:r>
            <a:r>
              <a:rPr lang="en" sz="2000">
                <a:solidFill>
                  <a:srgbClr val="1B1B1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before and after "=". Ex:</a:t>
            </a:r>
            <a:endParaRPr sz="2000">
              <a:solidFill>
                <a:srgbClr val="1B1B1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4572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B1B1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&lt;div class="gallery"&gt;</a:t>
            </a:r>
            <a:endParaRPr sz="2000">
              <a:solidFill>
                <a:srgbClr val="1B1B1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rgbClr val="1B1B1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 JS,</a:t>
            </a:r>
            <a:r>
              <a:rPr lang="en" sz="20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there should be a space before and after "=". Ex:</a:t>
            </a:r>
            <a:endParaRPr sz="20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	let num = 6;</a:t>
            </a:r>
            <a:endParaRPr sz="20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Do not use the &lt;br&gt; element. Apply proper styling instead.</a:t>
            </a:r>
            <a:endParaRPr sz="20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Be consistent with your spacing. If you use 2 spaces instead of tabs, use 2 spaces all throughout your files. Discuss with your group so you follow the same spacing.</a:t>
            </a:r>
            <a:endParaRPr sz="20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236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HTML and CSS Guidelines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311700" y="812300"/>
            <a:ext cx="7885800" cy="10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For HTML attributes that are of boolean value, you can drop the value if you intend it to set to default.</a:t>
            </a:r>
            <a:endParaRPr sz="17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14" name="Google Shape;114;p20"/>
          <p:cNvGrpSpPr/>
          <p:nvPr/>
        </p:nvGrpSpPr>
        <p:grpSpPr>
          <a:xfrm>
            <a:off x="763875" y="1677573"/>
            <a:ext cx="7616275" cy="1492954"/>
            <a:chOff x="763875" y="1677573"/>
            <a:chExt cx="7616275" cy="1492954"/>
          </a:xfrm>
        </p:grpSpPr>
        <p:sp>
          <p:nvSpPr>
            <p:cNvPr id="115" name="Google Shape;115;p20"/>
            <p:cNvSpPr txBox="1"/>
            <p:nvPr/>
          </p:nvSpPr>
          <p:spPr>
            <a:xfrm>
              <a:off x="763875" y="1699927"/>
              <a:ext cx="2457300" cy="147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80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&lt;button</a:t>
              </a:r>
              <a:endParaRPr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</a:t>
              </a:r>
              <a:r>
                <a:rPr lang="en">
                  <a:solidFill>
                    <a:srgbClr val="E5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type</a:t>
              </a:r>
              <a:r>
                <a:rPr lang="en">
                  <a:solidFill>
                    <a:schemeClr val="dk1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lang="en">
                  <a:solidFill>
                    <a:srgbClr val="0000FF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"button"</a:t>
              </a:r>
              <a:endParaRPr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FF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</a:t>
              </a:r>
              <a:r>
                <a:rPr lang="en">
                  <a:solidFill>
                    <a:srgbClr val="E5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disabled</a:t>
              </a:r>
              <a:r>
                <a:rPr lang="en">
                  <a:solidFill>
                    <a:schemeClr val="dk1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lang="en">
                  <a:solidFill>
                    <a:srgbClr val="0000FF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"true"</a:t>
              </a:r>
              <a:r>
                <a:rPr lang="en">
                  <a:solidFill>
                    <a:srgbClr val="80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&gt;</a:t>
              </a:r>
              <a:endParaRPr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Comment</a:t>
              </a:r>
              <a:endParaRPr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80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&lt;/button&gt;</a:t>
              </a:r>
              <a:endParaRPr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16" name="Google Shape;116;p20"/>
            <p:cNvSpPr/>
            <p:nvPr/>
          </p:nvSpPr>
          <p:spPr>
            <a:xfrm rot="-5400000">
              <a:off x="3810953" y="1921129"/>
              <a:ext cx="553500" cy="8019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0"/>
            <p:cNvSpPr txBox="1"/>
            <p:nvPr/>
          </p:nvSpPr>
          <p:spPr>
            <a:xfrm>
              <a:off x="5099650" y="1677573"/>
              <a:ext cx="3280500" cy="147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80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&lt;button</a:t>
              </a:r>
              <a:endParaRPr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</a:t>
              </a:r>
              <a:r>
                <a:rPr lang="en">
                  <a:solidFill>
                    <a:srgbClr val="E5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type</a:t>
              </a:r>
              <a:r>
                <a:rPr lang="en">
                  <a:solidFill>
                    <a:schemeClr val="dk1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lang="en">
                  <a:solidFill>
                    <a:srgbClr val="0000FF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"button"</a:t>
              </a:r>
              <a:endParaRPr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FF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</a:t>
              </a:r>
              <a:r>
                <a:rPr lang="en">
                  <a:solidFill>
                    <a:srgbClr val="E5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disabled</a:t>
              </a:r>
              <a:r>
                <a:rPr lang="en">
                  <a:solidFill>
                    <a:srgbClr val="80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&gt;</a:t>
              </a:r>
              <a:endParaRPr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Comment</a:t>
              </a:r>
              <a:endParaRPr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80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&lt;/button&gt;</a:t>
              </a:r>
              <a:endParaRPr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18" name="Google Shape;118;p20"/>
          <p:cNvGrpSpPr/>
          <p:nvPr/>
        </p:nvGrpSpPr>
        <p:grpSpPr>
          <a:xfrm>
            <a:off x="813400" y="3453023"/>
            <a:ext cx="7616275" cy="1492954"/>
            <a:chOff x="813400" y="3453023"/>
            <a:chExt cx="7616275" cy="1492954"/>
          </a:xfrm>
        </p:grpSpPr>
        <p:sp>
          <p:nvSpPr>
            <p:cNvPr id="119" name="Google Shape;119;p20"/>
            <p:cNvSpPr txBox="1"/>
            <p:nvPr/>
          </p:nvSpPr>
          <p:spPr>
            <a:xfrm>
              <a:off x="813400" y="3475377"/>
              <a:ext cx="2457300" cy="147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80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&lt;button</a:t>
              </a:r>
              <a:endParaRPr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</a:t>
              </a:r>
              <a:r>
                <a:rPr lang="en">
                  <a:solidFill>
                    <a:srgbClr val="E5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type</a:t>
              </a:r>
              <a:r>
                <a:rPr lang="en">
                  <a:solidFill>
                    <a:schemeClr val="dk1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lang="en">
                  <a:solidFill>
                    <a:srgbClr val="0000FF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"button"</a:t>
              </a:r>
              <a:endParaRPr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FF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</a:t>
              </a:r>
              <a:r>
                <a:rPr lang="en">
                  <a:solidFill>
                    <a:srgbClr val="E5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disabled</a:t>
              </a:r>
              <a:r>
                <a:rPr lang="en">
                  <a:solidFill>
                    <a:schemeClr val="dk1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lang="en">
                  <a:solidFill>
                    <a:srgbClr val="0000FF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"false"</a:t>
              </a:r>
              <a:r>
                <a:rPr lang="en">
                  <a:solidFill>
                    <a:srgbClr val="80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&gt;</a:t>
              </a:r>
              <a:endParaRPr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Comment</a:t>
              </a:r>
              <a:endParaRPr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80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&lt;/button&gt;</a:t>
              </a:r>
              <a:endParaRPr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20" name="Google Shape;120;p20"/>
            <p:cNvSpPr/>
            <p:nvPr/>
          </p:nvSpPr>
          <p:spPr>
            <a:xfrm rot="-5400000">
              <a:off x="3860478" y="3696579"/>
              <a:ext cx="553500" cy="8019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0"/>
            <p:cNvSpPr txBox="1"/>
            <p:nvPr/>
          </p:nvSpPr>
          <p:spPr>
            <a:xfrm>
              <a:off x="5149175" y="3453023"/>
              <a:ext cx="3280500" cy="147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80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&lt;button</a:t>
              </a:r>
              <a:endParaRPr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</a:t>
              </a:r>
              <a:r>
                <a:rPr lang="en">
                  <a:solidFill>
                    <a:srgbClr val="E5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type</a:t>
              </a:r>
              <a:r>
                <a:rPr lang="en">
                  <a:solidFill>
                    <a:schemeClr val="dk1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=</a:t>
              </a:r>
              <a:r>
                <a:rPr lang="en">
                  <a:solidFill>
                    <a:srgbClr val="0000FF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"button"</a:t>
              </a:r>
              <a:r>
                <a:rPr lang="en">
                  <a:solidFill>
                    <a:srgbClr val="80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&gt;</a:t>
              </a:r>
              <a:endParaRPr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Comment</a:t>
              </a:r>
              <a:endParaRPr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800000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&lt;/button&gt;</a:t>
              </a:r>
              <a:endParaRPr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311700" y="236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HTML and CSS Guidelines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1"/>
          <p:cNvSpPr txBox="1"/>
          <p:nvPr>
            <p:ph idx="1" type="body"/>
          </p:nvPr>
        </p:nvSpPr>
        <p:spPr>
          <a:xfrm>
            <a:off x="311700" y="809600"/>
            <a:ext cx="8520600" cy="13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46075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ct val="117647"/>
              <a:buFont typeface="Roboto"/>
              <a:buChar char="●"/>
            </a:pPr>
            <a:r>
              <a:rPr lang="en" sz="17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Observe proper structuring of elements. You can nest the elements but you should not overlap them. In the sample below there are mistakes</a:t>
            </a:r>
            <a:endParaRPr sz="17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6075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ct val="117647"/>
              <a:buFont typeface="Roboto"/>
              <a:buChar char="○"/>
            </a:pPr>
            <a:r>
              <a:rPr lang="en" sz="17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 form is inside a p and it is closed outside the p.</a:t>
            </a:r>
            <a:endParaRPr sz="17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8454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ct val="100000"/>
              <a:buFont typeface="Roboto"/>
              <a:buChar char="○"/>
            </a:pPr>
            <a:r>
              <a:rPr lang="en" sz="17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 should only contain text and text elements such as strong and em</a:t>
            </a:r>
            <a:endParaRPr sz="17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21"/>
          <p:cNvSpPr txBox="1"/>
          <p:nvPr>
            <p:ph idx="1" type="body"/>
          </p:nvPr>
        </p:nvSpPr>
        <p:spPr>
          <a:xfrm>
            <a:off x="2369075" y="2187700"/>
            <a:ext cx="3816900" cy="24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&lt;p&gt;</a:t>
            </a:r>
            <a:endParaRPr sz="125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&lt;form&gt;</a:t>
            </a:r>
            <a:endParaRPr sz="125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&lt;h4&gt;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Name:</a:t>
            </a:r>
            <a:r>
              <a:rPr lang="en" sz="12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&lt;/h4&gt;</a:t>
            </a:r>
            <a:endParaRPr sz="125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2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&lt;input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"name"</a:t>
            </a:r>
            <a:r>
              <a:rPr lang="en" sz="12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…</a:t>
            </a:r>
            <a:endParaRPr sz="125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&lt;/p&gt;</a:t>
            </a:r>
            <a:endParaRPr sz="125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"comment_button"</a:t>
            </a:r>
            <a:endParaRPr sz="12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2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"button"</a:t>
            </a:r>
            <a:r>
              <a:rPr lang="en" sz="12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Comment</a:t>
            </a:r>
            <a:r>
              <a:rPr lang="en" sz="12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sz="125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sz="125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>
            <p:ph type="title"/>
          </p:nvPr>
        </p:nvSpPr>
        <p:spPr>
          <a:xfrm>
            <a:off x="311700" y="84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HTML and CSS Guidelines</a:t>
            </a:r>
            <a:endParaRPr/>
          </a:p>
        </p:txBody>
      </p:sp>
      <p:sp>
        <p:nvSpPr>
          <p:cNvPr id="134" name="Google Shape;134;p22"/>
          <p:cNvSpPr txBox="1"/>
          <p:nvPr>
            <p:ph idx="1" type="body"/>
          </p:nvPr>
        </p:nvSpPr>
        <p:spPr>
          <a:xfrm>
            <a:off x="464100" y="809600"/>
            <a:ext cx="7523700" cy="7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500"/>
              <a:buChar char="●"/>
            </a:pPr>
            <a:r>
              <a:rPr lang="en" sz="1500"/>
              <a:t>When splitting element to multiple line of code, add at least double tab to the continuation line to indicate its a continuation and not a child element.</a:t>
            </a:r>
            <a:endParaRPr sz="1500"/>
          </a:p>
        </p:txBody>
      </p:sp>
      <p:grpSp>
        <p:nvGrpSpPr>
          <p:cNvPr id="135" name="Google Shape;135;p22"/>
          <p:cNvGrpSpPr/>
          <p:nvPr/>
        </p:nvGrpSpPr>
        <p:grpSpPr>
          <a:xfrm>
            <a:off x="464100" y="1786325"/>
            <a:ext cx="3536100" cy="1338900"/>
            <a:chOff x="464100" y="1786325"/>
            <a:chExt cx="3536100" cy="1338900"/>
          </a:xfrm>
        </p:grpSpPr>
        <p:sp>
          <p:nvSpPr>
            <p:cNvPr id="136" name="Google Shape;136;p22"/>
            <p:cNvSpPr txBox="1"/>
            <p:nvPr/>
          </p:nvSpPr>
          <p:spPr>
            <a:xfrm>
              <a:off x="464100" y="1786325"/>
              <a:ext cx="3536100" cy="13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1F2328"/>
                  </a:solidFill>
                  <a:highlight>
                    <a:srgbClr val="FFFFFF"/>
                  </a:highlight>
                </a:rPr>
                <a:t>&lt;button mat-raised-button class="edit-button" </a:t>
              </a:r>
              <a:endParaRPr sz="1300">
                <a:solidFill>
                  <a:srgbClr val="1F2328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1F2328"/>
                  </a:solidFill>
                  <a:highlight>
                    <a:srgbClr val="FFFFFF"/>
                  </a:highlight>
                </a:rPr>
                <a:t>(click)="editMusicItem(musicItem)"&gt;</a:t>
              </a:r>
              <a:endParaRPr sz="1300">
                <a:solidFill>
                  <a:srgbClr val="1F2328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1F2328"/>
                  </a:solidFill>
                  <a:highlight>
                    <a:srgbClr val="FFFFFF"/>
                  </a:highlight>
                </a:rPr>
                <a:t>     &lt;span&gt;Edit&lt;/span&gt;</a:t>
              </a:r>
              <a:endParaRPr sz="1300">
                <a:solidFill>
                  <a:srgbClr val="1F2328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1F2328"/>
                  </a:solidFill>
                  <a:highlight>
                    <a:srgbClr val="FFFFFF"/>
                  </a:highlight>
                </a:rPr>
                <a:t>&lt;/button&gt;</a:t>
              </a:r>
              <a:endParaRPr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137" name="Google Shape;137;p22"/>
            <p:cNvCxnSpPr/>
            <p:nvPr/>
          </p:nvCxnSpPr>
          <p:spPr>
            <a:xfrm flipH="1">
              <a:off x="510950" y="1915500"/>
              <a:ext cx="13800" cy="1071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8" name="Google Shape;138;p22"/>
          <p:cNvGrpSpPr/>
          <p:nvPr/>
        </p:nvGrpSpPr>
        <p:grpSpPr>
          <a:xfrm>
            <a:off x="4327450" y="1786325"/>
            <a:ext cx="3722400" cy="1338900"/>
            <a:chOff x="4327450" y="1786325"/>
            <a:chExt cx="3722400" cy="1338900"/>
          </a:xfrm>
        </p:grpSpPr>
        <p:cxnSp>
          <p:nvCxnSpPr>
            <p:cNvPr id="139" name="Google Shape;139;p22"/>
            <p:cNvCxnSpPr/>
            <p:nvPr/>
          </p:nvCxnSpPr>
          <p:spPr>
            <a:xfrm>
              <a:off x="4395825" y="1915500"/>
              <a:ext cx="13800" cy="1130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140" name="Google Shape;140;p22"/>
            <p:cNvSpPr txBox="1"/>
            <p:nvPr/>
          </p:nvSpPr>
          <p:spPr>
            <a:xfrm>
              <a:off x="4327450" y="1786325"/>
              <a:ext cx="3722400" cy="13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1F2328"/>
                  </a:solidFill>
                  <a:highlight>
                    <a:srgbClr val="FFFFFF"/>
                  </a:highlight>
                </a:rPr>
                <a:t>&lt;button mat-raised-button class="edit-button" </a:t>
              </a:r>
              <a:endParaRPr sz="1300">
                <a:solidFill>
                  <a:srgbClr val="1F2328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1F2328"/>
                  </a:solidFill>
                  <a:highlight>
                    <a:srgbClr val="FFFFFF"/>
                  </a:highlight>
                </a:rPr>
                <a:t>          (click)="editMusicItem(musicItem)"&gt;</a:t>
              </a:r>
              <a:endParaRPr sz="1300">
                <a:solidFill>
                  <a:srgbClr val="1F2328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1F2328"/>
                  </a:solidFill>
                  <a:highlight>
                    <a:srgbClr val="FFFFFF"/>
                  </a:highlight>
                </a:rPr>
                <a:t>     &lt;span&gt;Edit&lt;/span&gt;</a:t>
              </a:r>
              <a:endParaRPr sz="1300">
                <a:solidFill>
                  <a:srgbClr val="1F2328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1F2328"/>
                  </a:solidFill>
                  <a:highlight>
                    <a:srgbClr val="FFFFFF"/>
                  </a:highlight>
                </a:rPr>
                <a:t>&lt;/button&gt;</a:t>
              </a:r>
              <a:endParaRPr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41" name="Google Shape;141;p22"/>
          <p:cNvGrpSpPr/>
          <p:nvPr/>
        </p:nvGrpSpPr>
        <p:grpSpPr>
          <a:xfrm>
            <a:off x="4361700" y="3215625"/>
            <a:ext cx="4470600" cy="1338900"/>
            <a:chOff x="4361700" y="3215625"/>
            <a:chExt cx="4470600" cy="1338900"/>
          </a:xfrm>
        </p:grpSpPr>
        <p:cxnSp>
          <p:nvCxnSpPr>
            <p:cNvPr id="142" name="Google Shape;142;p22"/>
            <p:cNvCxnSpPr/>
            <p:nvPr/>
          </p:nvCxnSpPr>
          <p:spPr>
            <a:xfrm>
              <a:off x="4430075" y="3344800"/>
              <a:ext cx="13800" cy="1130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143" name="Google Shape;143;p22"/>
            <p:cNvSpPr txBox="1"/>
            <p:nvPr/>
          </p:nvSpPr>
          <p:spPr>
            <a:xfrm>
              <a:off x="4361700" y="3215625"/>
              <a:ext cx="4470600" cy="13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1F2328"/>
                  </a:solidFill>
                  <a:highlight>
                    <a:srgbClr val="FFFFFF"/>
                  </a:highlight>
                </a:rPr>
                <a:t>&lt;button mat-raised-button class="edit-button" </a:t>
              </a:r>
              <a:endParaRPr sz="1300">
                <a:solidFill>
                  <a:srgbClr val="1F2328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1F2328"/>
                  </a:solidFill>
                  <a:highlight>
                    <a:srgbClr val="FFFFFF"/>
                  </a:highlight>
                </a:rPr>
                <a:t>          	    (click)="editMusicItem(musicItem)"&gt;</a:t>
              </a:r>
              <a:endParaRPr sz="1300">
                <a:solidFill>
                  <a:srgbClr val="1F2328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1F2328"/>
                  </a:solidFill>
                  <a:highlight>
                    <a:srgbClr val="FFFFFF"/>
                  </a:highlight>
                </a:rPr>
                <a:t>     &lt;span&gt;Edit&lt;/span&gt;</a:t>
              </a:r>
              <a:endParaRPr sz="1300">
                <a:solidFill>
                  <a:srgbClr val="1F2328"/>
                </a:solidFill>
                <a:highlight>
                  <a:srgbClr val="FFFFFF"/>
                </a:highlight>
              </a:endParaRPr>
            </a:p>
            <a:p>
              <a:pPr indent="0" lvl="0" marL="0" rtl="0" algn="l">
                <a:lnSpc>
                  <a:spcPct val="14285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1F2328"/>
                  </a:solidFill>
                  <a:highlight>
                    <a:srgbClr val="FFFFFF"/>
                  </a:highlight>
                </a:rPr>
                <a:t>&lt;/button&gt;</a:t>
              </a:r>
              <a:endParaRPr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44" name="Google Shape;144;p22"/>
          <p:cNvGrpSpPr/>
          <p:nvPr/>
        </p:nvGrpSpPr>
        <p:grpSpPr>
          <a:xfrm>
            <a:off x="1670481" y="1495130"/>
            <a:ext cx="5110927" cy="291206"/>
            <a:chOff x="2284094" y="2814530"/>
            <a:chExt cx="5110927" cy="291206"/>
          </a:xfrm>
        </p:grpSpPr>
        <p:pic>
          <p:nvPicPr>
            <p:cNvPr id="145" name="Google Shape;145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284094" y="2814542"/>
              <a:ext cx="290231" cy="2911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084063" y="2814530"/>
              <a:ext cx="310958" cy="29119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311700" y="236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HTML and CSS Guidelines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3"/>
          <p:cNvSpPr txBox="1"/>
          <p:nvPr>
            <p:ph idx="1" type="body"/>
          </p:nvPr>
        </p:nvSpPr>
        <p:spPr>
          <a:xfrm>
            <a:off x="311700" y="809600"/>
            <a:ext cx="8520600" cy="9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000"/>
              <a:buFont typeface="Roboto"/>
              <a:buChar char="●"/>
            </a:pPr>
            <a:r>
              <a:rPr lang="en" sz="17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When splitting the elements into multiple lines, make sure that the continuation line is indented.</a:t>
            </a:r>
            <a:endParaRPr sz="17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23"/>
          <p:cNvSpPr txBox="1"/>
          <p:nvPr>
            <p:ph idx="1" type="body"/>
          </p:nvPr>
        </p:nvSpPr>
        <p:spPr>
          <a:xfrm>
            <a:off x="235500" y="1730600"/>
            <a:ext cx="4107900" cy="28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&lt;form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"comment_form"</a:t>
            </a:r>
            <a:r>
              <a:rPr lang="en" sz="12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5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&lt;label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"full_name"</a:t>
            </a:r>
            <a:r>
              <a:rPr lang="en" sz="12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Full Name:</a:t>
            </a:r>
            <a:r>
              <a:rPr lang="en" sz="12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&lt;/label&gt;</a:t>
            </a:r>
            <a:endParaRPr sz="125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&lt;input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"text"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"full_name"</a:t>
            </a:r>
            <a:endParaRPr sz="12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"full_name"</a:t>
            </a:r>
            <a:r>
              <a:rPr lang="en" sz="12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5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&lt;label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"comments"</a:t>
            </a:r>
            <a:r>
              <a:rPr lang="en" sz="12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Comments:</a:t>
            </a:r>
            <a:r>
              <a:rPr lang="en" sz="12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&lt;/label&gt;</a:t>
            </a:r>
            <a:endParaRPr sz="125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&lt;textarea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"comments"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"comments"</a:t>
            </a:r>
            <a:endParaRPr sz="12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rows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"5"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cols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"55"</a:t>
            </a:r>
            <a:r>
              <a:rPr lang="en" sz="12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&gt;&lt;/textarea&gt;</a:t>
            </a:r>
            <a:endParaRPr sz="125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sz="125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4" name="Google Shape;154;p23"/>
          <p:cNvSpPr txBox="1"/>
          <p:nvPr>
            <p:ph idx="1" type="body"/>
          </p:nvPr>
        </p:nvSpPr>
        <p:spPr>
          <a:xfrm>
            <a:off x="4705200" y="1730600"/>
            <a:ext cx="4438800" cy="28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&lt;form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"comment_form"</a:t>
            </a:r>
            <a:r>
              <a:rPr lang="en" sz="12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5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&lt;label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"full_name"</a:t>
            </a:r>
            <a:r>
              <a:rPr lang="en" sz="12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Full Name:</a:t>
            </a:r>
            <a:r>
              <a:rPr lang="en" sz="12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&lt;/label&gt;</a:t>
            </a:r>
            <a:endParaRPr sz="125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&lt;input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"text"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"full_name"</a:t>
            </a:r>
            <a:endParaRPr sz="12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name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"full_name"</a:t>
            </a:r>
            <a:r>
              <a:rPr lang="en" sz="12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5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&lt;label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"comments"</a:t>
            </a:r>
            <a:r>
              <a:rPr lang="en" sz="12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Comments:</a:t>
            </a:r>
            <a:r>
              <a:rPr lang="en" sz="12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&lt;/label&gt;</a:t>
            </a:r>
            <a:endParaRPr sz="125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&lt;textarea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"comments"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"comments"</a:t>
            </a:r>
            <a:endParaRPr sz="12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rows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"5"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cols</a:t>
            </a:r>
            <a:r>
              <a:rPr lang="en" sz="12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"55"</a:t>
            </a:r>
            <a:r>
              <a:rPr lang="en" sz="12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&gt;&lt;/textarea&gt;</a:t>
            </a:r>
            <a:endParaRPr sz="125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sz="125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5" name="Google Shape;155;p23"/>
          <p:cNvSpPr/>
          <p:nvPr/>
        </p:nvSpPr>
        <p:spPr>
          <a:xfrm>
            <a:off x="4345675" y="2473450"/>
            <a:ext cx="226200" cy="921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311700" y="236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HTML and CSS Guidelines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4"/>
          <p:cNvSpPr txBox="1"/>
          <p:nvPr>
            <p:ph idx="1" type="body"/>
          </p:nvPr>
        </p:nvSpPr>
        <p:spPr>
          <a:xfrm>
            <a:off x="308400" y="809600"/>
            <a:ext cx="8520600" cy="5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000"/>
              <a:buFont typeface="Roboto"/>
              <a:buChar char="●"/>
            </a:pPr>
            <a:r>
              <a:rPr lang="en" sz="17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Remove unnecessary breaking of lines. Place line breaks in proper places.</a:t>
            </a:r>
            <a:endParaRPr sz="17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4"/>
          <p:cNvSpPr txBox="1"/>
          <p:nvPr>
            <p:ph idx="1" type="body"/>
          </p:nvPr>
        </p:nvSpPr>
        <p:spPr>
          <a:xfrm>
            <a:off x="390900" y="1376175"/>
            <a:ext cx="3897900" cy="32460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&lt;img</a:t>
            </a:r>
            <a:endParaRPr sz="135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3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"image-gallery"</a:t>
            </a:r>
            <a:endParaRPr sz="13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3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src</a:t>
            </a:r>
            <a:r>
              <a:rPr lang="en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"./images/landscape.jpg"</a:t>
            </a:r>
            <a:endParaRPr sz="13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3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alt</a:t>
            </a:r>
            <a:r>
              <a:rPr lang="en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"Beautiful Landscape Image"</a:t>
            </a:r>
            <a:endParaRPr sz="13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35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&lt;input</a:t>
            </a:r>
            <a:endParaRPr sz="135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3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"input_name"</a:t>
            </a:r>
            <a:endParaRPr sz="13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3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"text"</a:t>
            </a:r>
            <a:endParaRPr sz="13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3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placeholder</a:t>
            </a:r>
            <a:r>
              <a:rPr lang="en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"Input your name"</a:t>
            </a:r>
            <a:endParaRPr sz="13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3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oninput</a:t>
            </a:r>
            <a:r>
              <a:rPr lang="en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"validate()"</a:t>
            </a:r>
            <a:endParaRPr sz="13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65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3" name="Google Shape;163;p24"/>
          <p:cNvSpPr txBox="1"/>
          <p:nvPr>
            <p:ph idx="1" type="body"/>
          </p:nvPr>
        </p:nvSpPr>
        <p:spPr>
          <a:xfrm>
            <a:off x="4848600" y="1376175"/>
            <a:ext cx="3983700" cy="31089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&lt;img</a:t>
            </a:r>
            <a:endParaRPr sz="135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3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"image-gallery"</a:t>
            </a:r>
            <a:endParaRPr sz="13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3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src</a:t>
            </a:r>
            <a:r>
              <a:rPr lang="en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"./images/landscape.jpg"</a:t>
            </a:r>
            <a:endParaRPr sz="13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3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alt</a:t>
            </a:r>
            <a:r>
              <a:rPr lang="en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"Beautiful Landscape Image"</a:t>
            </a:r>
            <a:r>
              <a:rPr lang="en" sz="13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35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&lt;input</a:t>
            </a:r>
            <a:endParaRPr sz="135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3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"input_name"</a:t>
            </a:r>
            <a:endParaRPr sz="13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3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"text"</a:t>
            </a:r>
            <a:endParaRPr sz="13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3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placeholder</a:t>
            </a:r>
            <a:r>
              <a:rPr lang="en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"Input your name"</a:t>
            </a:r>
            <a:endParaRPr sz="13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350">
                <a:solidFill>
                  <a:srgbClr val="E5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oninput</a:t>
            </a:r>
            <a:r>
              <a:rPr lang="en" sz="13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"validate()"</a:t>
            </a:r>
            <a:r>
              <a:rPr lang="en" sz="1350">
                <a:solidFill>
                  <a:srgbClr val="8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650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4" name="Google Shape;164;p24"/>
          <p:cNvSpPr/>
          <p:nvPr/>
        </p:nvSpPr>
        <p:spPr>
          <a:xfrm rot="-5279690">
            <a:off x="4294323" y="2576318"/>
            <a:ext cx="548736" cy="33260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type="title"/>
          </p:nvPr>
        </p:nvSpPr>
        <p:spPr>
          <a:xfrm>
            <a:off x="311700" y="236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Guide</a:t>
            </a:r>
            <a:endParaRPr/>
          </a:p>
        </p:txBody>
      </p:sp>
      <p:sp>
        <p:nvSpPr>
          <p:cNvPr id="170" name="Google Shape;170;p25"/>
          <p:cNvSpPr txBox="1"/>
          <p:nvPr>
            <p:ph idx="1" type="body"/>
          </p:nvPr>
        </p:nvSpPr>
        <p:spPr>
          <a:xfrm>
            <a:off x="311700" y="888550"/>
            <a:ext cx="8520600" cy="39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rgbClr val="1B1B1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Always use "let" keyword in declaring variables over the "var" keyword.</a:t>
            </a:r>
            <a:endParaRPr sz="2000">
              <a:solidFill>
                <a:srgbClr val="1B1B1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rgbClr val="1B1B1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Always use external Javascript.</a:t>
            </a:r>
            <a:endParaRPr sz="20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Function names should be written in camel case.</a:t>
            </a:r>
            <a:endParaRPr sz="20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Always terminate statements with ;</a:t>
            </a:r>
            <a:endParaRPr sz="20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Do not modify styling in JS. Instead, simply add or remove classes in the DOM.</a:t>
            </a:r>
            <a:endParaRPr sz="20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Separate every function block with a single space.</a:t>
            </a:r>
            <a:endParaRPr sz="20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Use </a:t>
            </a:r>
            <a:r>
              <a:rPr lang="en" sz="2000" u="sng">
                <a:solidFill>
                  <a:schemeClr val="hlink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guard clause</a:t>
            </a:r>
            <a:r>
              <a:rPr lang="en" sz="20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if possible to replace instead of if…else.</a:t>
            </a:r>
            <a:endParaRPr sz="20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/>
          <p:nvPr>
            <p:ph type="title"/>
          </p:nvPr>
        </p:nvSpPr>
        <p:spPr>
          <a:xfrm>
            <a:off x="311700" y="236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Guide</a:t>
            </a:r>
            <a:endParaRPr/>
          </a:p>
        </p:txBody>
      </p:sp>
      <p:sp>
        <p:nvSpPr>
          <p:cNvPr id="176" name="Google Shape;176;p26"/>
          <p:cNvSpPr txBox="1"/>
          <p:nvPr>
            <p:ph idx="1" type="body"/>
          </p:nvPr>
        </p:nvSpPr>
        <p:spPr>
          <a:xfrm>
            <a:off x="311700" y="888550"/>
            <a:ext cx="85206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ct val="100000"/>
              <a:buFont typeface="Roboto"/>
              <a:buChar char="●"/>
            </a:pPr>
            <a:r>
              <a:rPr lang="en" sz="20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Remove console.logs() and unneccessary codes in the production environment.</a:t>
            </a:r>
            <a:endParaRPr sz="20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ct val="100000"/>
              <a:buFont typeface="Roboto"/>
              <a:buChar char="●"/>
            </a:pPr>
            <a:r>
              <a:rPr lang="en" sz="20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Use console.error() for logging error messages.</a:t>
            </a:r>
            <a:endParaRPr sz="20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ct val="100000"/>
              <a:buFont typeface="Roboto"/>
              <a:buChar char="●"/>
            </a:pPr>
            <a:r>
              <a:rPr lang="en" sz="20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Remove codes/variables that are not used.</a:t>
            </a:r>
            <a:endParaRPr sz="20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77" name="Google Shape;177;p26"/>
          <p:cNvGrpSpPr/>
          <p:nvPr/>
        </p:nvGrpSpPr>
        <p:grpSpPr>
          <a:xfrm>
            <a:off x="198800" y="2479900"/>
            <a:ext cx="8746401" cy="2241450"/>
            <a:chOff x="85900" y="2369400"/>
            <a:chExt cx="8746401" cy="2241450"/>
          </a:xfrm>
        </p:grpSpPr>
        <p:grpSp>
          <p:nvGrpSpPr>
            <p:cNvPr id="178" name="Google Shape;178;p26"/>
            <p:cNvGrpSpPr/>
            <p:nvPr/>
          </p:nvGrpSpPr>
          <p:grpSpPr>
            <a:xfrm>
              <a:off x="85900" y="2369400"/>
              <a:ext cx="8746401" cy="2241450"/>
              <a:chOff x="85900" y="2369400"/>
              <a:chExt cx="8746401" cy="2241450"/>
            </a:xfrm>
          </p:grpSpPr>
          <p:pic>
            <p:nvPicPr>
              <p:cNvPr id="179" name="Google Shape;179;p2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5900" y="2369400"/>
                <a:ext cx="4045830" cy="22414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0" name="Google Shape;180;p2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5043871" y="2456857"/>
                <a:ext cx="3788430" cy="179689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81" name="Google Shape;181;p26"/>
            <p:cNvSpPr/>
            <p:nvPr/>
          </p:nvSpPr>
          <p:spPr>
            <a:xfrm>
              <a:off x="4368550" y="2987800"/>
              <a:ext cx="594300" cy="445800"/>
            </a:xfrm>
            <a:prstGeom prst="rightArrow">
              <a:avLst>
                <a:gd fmla="val 50000" name="adj1"/>
                <a:gd fmla="val 50000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/>
          <p:nvPr>
            <p:ph type="title"/>
          </p:nvPr>
        </p:nvSpPr>
        <p:spPr>
          <a:xfrm>
            <a:off x="311700" y="236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Guide</a:t>
            </a:r>
            <a:endParaRPr/>
          </a:p>
        </p:txBody>
      </p:sp>
      <p:sp>
        <p:nvSpPr>
          <p:cNvPr id="187" name="Google Shape;187;p27"/>
          <p:cNvSpPr txBox="1"/>
          <p:nvPr>
            <p:ph idx="1" type="body"/>
          </p:nvPr>
        </p:nvSpPr>
        <p:spPr>
          <a:xfrm>
            <a:off x="311700" y="888550"/>
            <a:ext cx="8390700" cy="11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ct val="100000"/>
              <a:buFont typeface="Roboto"/>
              <a:buChar char="●"/>
            </a:pPr>
            <a:r>
              <a:rPr lang="en" sz="20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" sz="20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ass the function directly as an argument instead of calling it inside a function.</a:t>
            </a:r>
            <a:endParaRPr sz="20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ct val="100000"/>
              <a:buFont typeface="Roboto"/>
              <a:buChar char="●"/>
            </a:pPr>
            <a:r>
              <a:rPr lang="en" sz="20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Remove unnecessary space between function name and ().</a:t>
            </a:r>
            <a:endParaRPr sz="20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27"/>
          <p:cNvSpPr txBox="1"/>
          <p:nvPr/>
        </p:nvSpPr>
        <p:spPr>
          <a:xfrm>
            <a:off x="1454125" y="3940250"/>
            <a:ext cx="63141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/>
              <a:t>formId.addEventListener("input", enableButton);</a:t>
            </a:r>
            <a:endParaRPr sz="1850"/>
          </a:p>
        </p:txBody>
      </p:sp>
      <p:sp>
        <p:nvSpPr>
          <p:cNvPr id="189" name="Google Shape;189;p27"/>
          <p:cNvSpPr txBox="1"/>
          <p:nvPr>
            <p:ph idx="1" type="body"/>
          </p:nvPr>
        </p:nvSpPr>
        <p:spPr>
          <a:xfrm>
            <a:off x="854575" y="2044225"/>
            <a:ext cx="83907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formId.addEventListener   ("input", () =&gt; { enableButton (); });</a:t>
            </a:r>
            <a:endParaRPr sz="20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27"/>
          <p:cNvSpPr/>
          <p:nvPr/>
        </p:nvSpPr>
        <p:spPr>
          <a:xfrm rot="5400000">
            <a:off x="3783875" y="2955300"/>
            <a:ext cx="990600" cy="686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8"/>
          <p:cNvSpPr txBox="1"/>
          <p:nvPr>
            <p:ph type="title"/>
          </p:nvPr>
        </p:nvSpPr>
        <p:spPr>
          <a:xfrm>
            <a:off x="311700" y="236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Guide</a:t>
            </a:r>
            <a:endParaRPr/>
          </a:p>
        </p:txBody>
      </p:sp>
      <p:sp>
        <p:nvSpPr>
          <p:cNvPr id="196" name="Google Shape;196;p28"/>
          <p:cNvSpPr txBox="1"/>
          <p:nvPr/>
        </p:nvSpPr>
        <p:spPr>
          <a:xfrm>
            <a:off x="471000" y="875713"/>
            <a:ext cx="83613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Do not create another fetch inside a then method. Instead, chain them by returning another fetch.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97" name="Google Shape;19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87650"/>
            <a:ext cx="4349025" cy="299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8575" y="1387638"/>
            <a:ext cx="4019176" cy="2786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83650" y="4134250"/>
            <a:ext cx="758975" cy="67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8"/>
          <p:cNvPicPr preferRelativeResize="0"/>
          <p:nvPr/>
        </p:nvPicPr>
        <p:blipFill rotWithShape="1">
          <a:blip r:embed="rId6">
            <a:alphaModFix/>
          </a:blip>
          <a:srcRect b="11111" l="0" r="0" t="0"/>
          <a:stretch/>
        </p:blipFill>
        <p:spPr>
          <a:xfrm>
            <a:off x="6207651" y="4239875"/>
            <a:ext cx="644274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9"/>
          <p:cNvSpPr txBox="1"/>
          <p:nvPr>
            <p:ph type="title"/>
          </p:nvPr>
        </p:nvSpPr>
        <p:spPr>
          <a:xfrm>
            <a:off x="311700" y="236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Guide</a:t>
            </a:r>
            <a:endParaRPr/>
          </a:p>
        </p:txBody>
      </p:sp>
      <p:sp>
        <p:nvSpPr>
          <p:cNvPr id="206" name="Google Shape;206;p29"/>
          <p:cNvSpPr txBox="1"/>
          <p:nvPr>
            <p:ph idx="1" type="body"/>
          </p:nvPr>
        </p:nvSpPr>
        <p:spPr>
          <a:xfrm>
            <a:off x="311700" y="809600"/>
            <a:ext cx="8520600" cy="37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Since Javascript coerce the values, this means that the following code is unnecessary and should not be used: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188038"/>
                </a:solidFill>
              </a:rPr>
              <a:t>=== undefined</a:t>
            </a:r>
            <a:endParaRPr sz="1600">
              <a:solidFill>
                <a:srgbClr val="188038"/>
              </a:solidFill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188038"/>
                </a:solidFill>
              </a:rPr>
              <a:t>=== null</a:t>
            </a:r>
            <a:endParaRPr sz="1600">
              <a:solidFill>
                <a:srgbClr val="188038"/>
              </a:solidFill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188038"/>
                </a:solidFill>
              </a:rPr>
              <a:t>=== true</a:t>
            </a:r>
            <a:endParaRPr sz="1600">
              <a:solidFill>
                <a:srgbClr val="188038"/>
              </a:solidFill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188038"/>
                </a:solidFill>
              </a:rPr>
              <a:t>=== false</a:t>
            </a:r>
            <a:endParaRPr sz="1600">
              <a:solidFill>
                <a:srgbClr val="188038"/>
              </a:solidFill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188038"/>
                </a:solidFill>
              </a:rPr>
              <a:t>=== 0</a:t>
            </a:r>
            <a:endParaRPr sz="1600">
              <a:solidFill>
                <a:srgbClr val="188038"/>
              </a:solidFill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</a:rPr>
              <a:t>=== ""</a:t>
            </a:r>
            <a:endParaRPr sz="1600">
              <a:solidFill>
                <a:srgbClr val="188038"/>
              </a:solidFill>
            </a:endParaRPr>
          </a:p>
        </p:txBody>
      </p:sp>
      <p:grpSp>
        <p:nvGrpSpPr>
          <p:cNvPr id="207" name="Google Shape;207;p29"/>
          <p:cNvGrpSpPr/>
          <p:nvPr/>
        </p:nvGrpSpPr>
        <p:grpSpPr>
          <a:xfrm>
            <a:off x="3351275" y="2439200"/>
            <a:ext cx="5132050" cy="834300"/>
            <a:chOff x="3145525" y="1387650"/>
            <a:chExt cx="5132050" cy="834300"/>
          </a:xfrm>
        </p:grpSpPr>
        <p:sp>
          <p:nvSpPr>
            <p:cNvPr id="208" name="Google Shape;208;p29"/>
            <p:cNvSpPr txBox="1"/>
            <p:nvPr/>
          </p:nvSpPr>
          <p:spPr>
            <a:xfrm>
              <a:off x="3145525" y="1387650"/>
              <a:ext cx="2032200" cy="83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8959A8"/>
                  </a:solidFill>
                </a:rPr>
                <a:t>if</a:t>
              </a:r>
              <a:r>
                <a:rPr lang="en" sz="1300">
                  <a:solidFill>
                    <a:srgbClr val="4D4D4C"/>
                  </a:solidFill>
                </a:rPr>
                <a:t> (</a:t>
              </a:r>
              <a:r>
                <a:rPr lang="en" sz="1300">
                  <a:solidFill>
                    <a:srgbClr val="4271AE"/>
                  </a:solidFill>
                </a:rPr>
                <a:t>isEven === true</a:t>
              </a:r>
              <a:r>
                <a:rPr lang="en" sz="1300">
                  <a:solidFill>
                    <a:srgbClr val="4D4D4C"/>
                  </a:solidFill>
                </a:rPr>
                <a:t>) {</a:t>
              </a:r>
              <a:endParaRPr sz="1300">
                <a:solidFill>
                  <a:srgbClr val="4D4D4C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4D4D4C"/>
                  </a:solidFill>
                </a:rPr>
                <a:t>  </a:t>
              </a:r>
              <a:r>
                <a:rPr lang="en" sz="1300">
                  <a:solidFill>
                    <a:srgbClr val="8959A8"/>
                  </a:solidFill>
                </a:rPr>
                <a:t>return</a:t>
              </a:r>
              <a:r>
                <a:rPr lang="en" sz="1300">
                  <a:solidFill>
                    <a:srgbClr val="4D4D4C"/>
                  </a:solidFill>
                </a:rPr>
                <a:t> '</a:t>
              </a:r>
              <a:r>
                <a:rPr lang="en" sz="1300">
                  <a:solidFill>
                    <a:srgbClr val="718C00"/>
                  </a:solidFill>
                </a:rPr>
                <a:t>Even number</a:t>
              </a:r>
              <a:r>
                <a:rPr lang="en" sz="1300">
                  <a:solidFill>
                    <a:srgbClr val="4D4D4C"/>
                  </a:solidFill>
                </a:rPr>
                <a:t>';</a:t>
              </a:r>
              <a:endParaRPr sz="1300">
                <a:solidFill>
                  <a:srgbClr val="4D4D4C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4D4D4C"/>
                  </a:solidFill>
                </a:rPr>
                <a:t>}</a:t>
              </a:r>
              <a:endParaRPr/>
            </a:p>
          </p:txBody>
        </p:sp>
        <p:sp>
          <p:nvSpPr>
            <p:cNvPr id="209" name="Google Shape;209;p29"/>
            <p:cNvSpPr txBox="1"/>
            <p:nvPr/>
          </p:nvSpPr>
          <p:spPr>
            <a:xfrm>
              <a:off x="5980175" y="1387650"/>
              <a:ext cx="2297400" cy="83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8959A8"/>
                  </a:solidFill>
                </a:rPr>
                <a:t>if</a:t>
              </a:r>
              <a:r>
                <a:rPr lang="en" sz="1300">
                  <a:solidFill>
                    <a:srgbClr val="4D4D4C"/>
                  </a:solidFill>
                </a:rPr>
                <a:t> (</a:t>
              </a:r>
              <a:r>
                <a:rPr lang="en" sz="1300">
                  <a:solidFill>
                    <a:srgbClr val="4271AE"/>
                  </a:solidFill>
                </a:rPr>
                <a:t>isEven</a:t>
              </a:r>
              <a:r>
                <a:rPr lang="en" sz="1300">
                  <a:solidFill>
                    <a:srgbClr val="4D4D4C"/>
                  </a:solidFill>
                </a:rPr>
                <a:t>) {</a:t>
              </a:r>
              <a:endParaRPr sz="1300">
                <a:solidFill>
                  <a:srgbClr val="4D4D4C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4D4D4C"/>
                  </a:solidFill>
                </a:rPr>
                <a:t>  </a:t>
              </a:r>
              <a:r>
                <a:rPr lang="en" sz="1300">
                  <a:solidFill>
                    <a:srgbClr val="8959A8"/>
                  </a:solidFill>
                </a:rPr>
                <a:t>return</a:t>
              </a:r>
              <a:r>
                <a:rPr lang="en" sz="1300">
                  <a:solidFill>
                    <a:srgbClr val="4D4D4C"/>
                  </a:solidFill>
                </a:rPr>
                <a:t> '</a:t>
              </a:r>
              <a:r>
                <a:rPr lang="en" sz="1300">
                  <a:solidFill>
                    <a:srgbClr val="718C00"/>
                  </a:solidFill>
                </a:rPr>
                <a:t>Even number</a:t>
              </a:r>
              <a:r>
                <a:rPr lang="en" sz="1300">
                  <a:solidFill>
                    <a:srgbClr val="4D4D4C"/>
                  </a:solidFill>
                </a:rPr>
                <a:t>';</a:t>
              </a:r>
              <a:endParaRPr sz="1300">
                <a:solidFill>
                  <a:srgbClr val="4D4D4C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4D4D4C"/>
                  </a:solidFill>
                </a:rPr>
                <a:t>}</a:t>
              </a:r>
              <a:endParaRPr sz="1300">
                <a:solidFill>
                  <a:srgbClr val="4D4D4C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9"/>
            <p:cNvSpPr/>
            <p:nvPr/>
          </p:nvSpPr>
          <p:spPr>
            <a:xfrm>
              <a:off x="5177725" y="1581900"/>
              <a:ext cx="571500" cy="354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1" name="Google Shape;211;p29"/>
          <p:cNvGrpSpPr/>
          <p:nvPr/>
        </p:nvGrpSpPr>
        <p:grpSpPr>
          <a:xfrm>
            <a:off x="3297925" y="1540050"/>
            <a:ext cx="5132050" cy="834300"/>
            <a:chOff x="3145525" y="1387650"/>
            <a:chExt cx="5132050" cy="834300"/>
          </a:xfrm>
        </p:grpSpPr>
        <p:sp>
          <p:nvSpPr>
            <p:cNvPr id="212" name="Google Shape;212;p29"/>
            <p:cNvSpPr txBox="1"/>
            <p:nvPr/>
          </p:nvSpPr>
          <p:spPr>
            <a:xfrm>
              <a:off x="3145525" y="1387650"/>
              <a:ext cx="2032200" cy="83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8959A8"/>
                  </a:solidFill>
                </a:rPr>
                <a:t>if</a:t>
              </a:r>
              <a:r>
                <a:rPr lang="en" sz="1300">
                  <a:solidFill>
                    <a:srgbClr val="4D4D4C"/>
                  </a:solidFill>
                </a:rPr>
                <a:t> (</a:t>
              </a:r>
              <a:r>
                <a:rPr lang="en" sz="1300">
                  <a:solidFill>
                    <a:srgbClr val="4271AE"/>
                  </a:solidFill>
                </a:rPr>
                <a:t>msg</a:t>
              </a:r>
              <a:r>
                <a:rPr lang="en" sz="1300">
                  <a:solidFill>
                    <a:srgbClr val="4D4D4C"/>
                  </a:solidFill>
                </a:rPr>
                <a:t> === "") {</a:t>
              </a:r>
              <a:endParaRPr sz="1300">
                <a:solidFill>
                  <a:srgbClr val="4D4D4C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4D4D4C"/>
                  </a:solidFill>
                </a:rPr>
                <a:t>  </a:t>
              </a:r>
              <a:r>
                <a:rPr lang="en" sz="1300">
                  <a:solidFill>
                    <a:srgbClr val="8959A8"/>
                  </a:solidFill>
                </a:rPr>
                <a:t>return</a:t>
              </a:r>
              <a:r>
                <a:rPr lang="en" sz="1300">
                  <a:solidFill>
                    <a:srgbClr val="4D4D4C"/>
                  </a:solidFill>
                </a:rPr>
                <a:t> '</a:t>
              </a:r>
              <a:r>
                <a:rPr lang="en" sz="1300">
                  <a:solidFill>
                    <a:srgbClr val="718C00"/>
                  </a:solidFill>
                </a:rPr>
                <a:t>String is empty</a:t>
              </a:r>
              <a:r>
                <a:rPr lang="en" sz="1300">
                  <a:solidFill>
                    <a:srgbClr val="4D4D4C"/>
                  </a:solidFill>
                </a:rPr>
                <a:t>';</a:t>
              </a:r>
              <a:endParaRPr sz="1300">
                <a:solidFill>
                  <a:srgbClr val="4D4D4C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4D4D4C"/>
                  </a:solidFill>
                </a:rPr>
                <a:t>}</a:t>
              </a:r>
              <a:endParaRPr/>
            </a:p>
          </p:txBody>
        </p:sp>
        <p:sp>
          <p:nvSpPr>
            <p:cNvPr id="213" name="Google Shape;213;p29"/>
            <p:cNvSpPr txBox="1"/>
            <p:nvPr/>
          </p:nvSpPr>
          <p:spPr>
            <a:xfrm>
              <a:off x="5980175" y="1387650"/>
              <a:ext cx="2297400" cy="83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8959A8"/>
                  </a:solidFill>
                </a:rPr>
                <a:t>if</a:t>
              </a:r>
              <a:r>
                <a:rPr lang="en" sz="1300">
                  <a:solidFill>
                    <a:srgbClr val="4D4D4C"/>
                  </a:solidFill>
                </a:rPr>
                <a:t> (!</a:t>
              </a:r>
              <a:r>
                <a:rPr lang="en" sz="1300">
                  <a:solidFill>
                    <a:srgbClr val="4271AE"/>
                  </a:solidFill>
                </a:rPr>
                <a:t>mgs</a:t>
              </a:r>
              <a:r>
                <a:rPr lang="en" sz="1300">
                  <a:solidFill>
                    <a:srgbClr val="4D4D4C"/>
                  </a:solidFill>
                </a:rPr>
                <a:t>) {</a:t>
              </a:r>
              <a:endParaRPr sz="1300">
                <a:solidFill>
                  <a:srgbClr val="4D4D4C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4D4D4C"/>
                  </a:solidFill>
                </a:rPr>
                <a:t>  </a:t>
              </a:r>
              <a:r>
                <a:rPr lang="en" sz="1300">
                  <a:solidFill>
                    <a:srgbClr val="8959A8"/>
                  </a:solidFill>
                </a:rPr>
                <a:t>return</a:t>
              </a:r>
              <a:r>
                <a:rPr lang="en" sz="1300">
                  <a:solidFill>
                    <a:srgbClr val="4D4D4C"/>
                  </a:solidFill>
                </a:rPr>
                <a:t> '</a:t>
              </a:r>
              <a:r>
                <a:rPr lang="en" sz="1300">
                  <a:solidFill>
                    <a:srgbClr val="718C00"/>
                  </a:solidFill>
                </a:rPr>
                <a:t>String is empty</a:t>
              </a:r>
              <a:r>
                <a:rPr lang="en" sz="1300">
                  <a:solidFill>
                    <a:srgbClr val="4D4D4C"/>
                  </a:solidFill>
                </a:rPr>
                <a:t>';</a:t>
              </a:r>
              <a:endParaRPr sz="1300">
                <a:solidFill>
                  <a:srgbClr val="4D4D4C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4D4D4C"/>
                  </a:solidFill>
                </a:rPr>
                <a:t>}</a:t>
              </a:r>
              <a:endParaRPr sz="1300">
                <a:solidFill>
                  <a:srgbClr val="4D4D4C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9"/>
            <p:cNvSpPr/>
            <p:nvPr/>
          </p:nvSpPr>
          <p:spPr>
            <a:xfrm>
              <a:off x="5177725" y="1581900"/>
              <a:ext cx="571500" cy="354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5" name="Google Shape;215;p29"/>
          <p:cNvGrpSpPr/>
          <p:nvPr/>
        </p:nvGrpSpPr>
        <p:grpSpPr>
          <a:xfrm>
            <a:off x="3351275" y="3273500"/>
            <a:ext cx="5132050" cy="834300"/>
            <a:chOff x="3145525" y="1387650"/>
            <a:chExt cx="5132050" cy="834300"/>
          </a:xfrm>
        </p:grpSpPr>
        <p:sp>
          <p:nvSpPr>
            <p:cNvPr id="216" name="Google Shape;216;p29"/>
            <p:cNvSpPr txBox="1"/>
            <p:nvPr/>
          </p:nvSpPr>
          <p:spPr>
            <a:xfrm>
              <a:off x="3145525" y="1387650"/>
              <a:ext cx="2032200" cy="83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8959A8"/>
                  </a:solidFill>
                </a:rPr>
                <a:t>if</a:t>
              </a:r>
              <a:r>
                <a:rPr lang="en" sz="1300">
                  <a:solidFill>
                    <a:srgbClr val="4D4D4C"/>
                  </a:solidFill>
                </a:rPr>
                <a:t> (</a:t>
              </a:r>
              <a:r>
                <a:rPr lang="en" sz="1300">
                  <a:solidFill>
                    <a:srgbClr val="4271AE"/>
                  </a:solidFill>
                </a:rPr>
                <a:t>number === 0</a:t>
              </a:r>
              <a:r>
                <a:rPr lang="en" sz="1300">
                  <a:solidFill>
                    <a:srgbClr val="4D4D4C"/>
                  </a:solidFill>
                </a:rPr>
                <a:t>) {</a:t>
              </a:r>
              <a:endParaRPr sz="1300">
                <a:solidFill>
                  <a:srgbClr val="4D4D4C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4D4D4C"/>
                  </a:solidFill>
                </a:rPr>
                <a:t>  </a:t>
              </a:r>
              <a:r>
                <a:rPr lang="en" sz="1300">
                  <a:solidFill>
                    <a:srgbClr val="8959A8"/>
                  </a:solidFill>
                </a:rPr>
                <a:t>return</a:t>
              </a:r>
              <a:r>
                <a:rPr lang="en" sz="1300">
                  <a:solidFill>
                    <a:srgbClr val="4D4D4C"/>
                  </a:solidFill>
                </a:rPr>
                <a:t> '</a:t>
              </a:r>
              <a:r>
                <a:rPr lang="en" sz="1300">
                  <a:solidFill>
                    <a:srgbClr val="718C00"/>
                  </a:solidFill>
                </a:rPr>
                <a:t>it is zero</a:t>
              </a:r>
              <a:r>
                <a:rPr lang="en" sz="1300">
                  <a:solidFill>
                    <a:srgbClr val="4D4D4C"/>
                  </a:solidFill>
                </a:rPr>
                <a:t>';</a:t>
              </a:r>
              <a:endParaRPr sz="1300">
                <a:solidFill>
                  <a:srgbClr val="4D4D4C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4D4D4C"/>
                  </a:solidFill>
                </a:rPr>
                <a:t>}</a:t>
              </a:r>
              <a:endParaRPr/>
            </a:p>
          </p:txBody>
        </p:sp>
        <p:sp>
          <p:nvSpPr>
            <p:cNvPr id="217" name="Google Shape;217;p29"/>
            <p:cNvSpPr/>
            <p:nvPr/>
          </p:nvSpPr>
          <p:spPr>
            <a:xfrm>
              <a:off x="5177725" y="1581900"/>
              <a:ext cx="571500" cy="354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9"/>
            <p:cNvSpPr txBox="1"/>
            <p:nvPr/>
          </p:nvSpPr>
          <p:spPr>
            <a:xfrm>
              <a:off x="5980175" y="1387650"/>
              <a:ext cx="2297400" cy="83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8959A8"/>
                  </a:solidFill>
                </a:rPr>
                <a:t>if</a:t>
              </a:r>
              <a:r>
                <a:rPr lang="en" sz="1300">
                  <a:solidFill>
                    <a:srgbClr val="4D4D4C"/>
                  </a:solidFill>
                </a:rPr>
                <a:t> (</a:t>
              </a:r>
              <a:r>
                <a:rPr lang="en" sz="1300">
                  <a:solidFill>
                    <a:srgbClr val="4271AE"/>
                  </a:solidFill>
                </a:rPr>
                <a:t>!number</a:t>
              </a:r>
              <a:r>
                <a:rPr lang="en" sz="1300">
                  <a:solidFill>
                    <a:srgbClr val="4D4D4C"/>
                  </a:solidFill>
                </a:rPr>
                <a:t>) {</a:t>
              </a:r>
              <a:endParaRPr sz="1300">
                <a:solidFill>
                  <a:srgbClr val="4D4D4C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4D4D4C"/>
                  </a:solidFill>
                </a:rPr>
                <a:t>  </a:t>
              </a:r>
              <a:r>
                <a:rPr lang="en" sz="1300">
                  <a:solidFill>
                    <a:srgbClr val="8959A8"/>
                  </a:solidFill>
                </a:rPr>
                <a:t>return</a:t>
              </a:r>
              <a:r>
                <a:rPr lang="en" sz="1300">
                  <a:solidFill>
                    <a:srgbClr val="4D4D4C"/>
                  </a:solidFill>
                </a:rPr>
                <a:t> '</a:t>
              </a:r>
              <a:r>
                <a:rPr lang="en" sz="1300">
                  <a:solidFill>
                    <a:srgbClr val="718C00"/>
                  </a:solidFill>
                </a:rPr>
                <a:t>it is zero</a:t>
              </a:r>
              <a:r>
                <a:rPr lang="en" sz="1300">
                  <a:solidFill>
                    <a:srgbClr val="4D4D4C"/>
                  </a:solidFill>
                </a:rPr>
                <a:t>';</a:t>
              </a:r>
              <a:endParaRPr sz="1300">
                <a:solidFill>
                  <a:srgbClr val="4D4D4C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4D4D4C"/>
                  </a:solidFill>
                </a:rPr>
                <a:t>}</a:t>
              </a:r>
              <a:endParaRPr sz="1300">
                <a:solidFill>
                  <a:srgbClr val="4D4D4C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0"/>
          <p:cNvSpPr txBox="1"/>
          <p:nvPr>
            <p:ph type="title"/>
          </p:nvPr>
        </p:nvSpPr>
        <p:spPr>
          <a:xfrm>
            <a:off x="311700" y="236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Javascript Guide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0"/>
          <p:cNvSpPr txBox="1"/>
          <p:nvPr>
            <p:ph idx="1" type="body"/>
          </p:nvPr>
        </p:nvSpPr>
        <p:spPr>
          <a:xfrm>
            <a:off x="311700" y="812300"/>
            <a:ext cx="7885800" cy="10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2035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ct val="100000"/>
              <a:buFont typeface="Roboto"/>
              <a:buChar char="●"/>
            </a:pPr>
            <a:r>
              <a:rPr lang="en" sz="17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Utilize JS coercion</a:t>
            </a:r>
            <a:endParaRPr sz="17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035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ct val="100000"/>
              <a:buFont typeface="Roboto"/>
              <a:buChar char="●"/>
            </a:pPr>
            <a:r>
              <a:rPr lang="en" sz="17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Truthy and falsy values can be used to evaluate expression especially in conditionals</a:t>
            </a:r>
            <a:endParaRPr sz="17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30"/>
          <p:cNvSpPr txBox="1"/>
          <p:nvPr/>
        </p:nvSpPr>
        <p:spPr>
          <a:xfrm>
            <a:off x="733800" y="2039125"/>
            <a:ext cx="4926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(comments.length &gt; 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&amp;&amp; name.length &gt; </a:t>
            </a:r>
            <a:r>
              <a:rPr lang="en" sz="13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commentButton.disabled =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226" name="Google Shape;226;p30"/>
          <p:cNvSpPr txBox="1"/>
          <p:nvPr/>
        </p:nvSpPr>
        <p:spPr>
          <a:xfrm>
            <a:off x="733800" y="3826000"/>
            <a:ext cx="4926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(comments.length &amp;&amp; name.length) {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commentButton.disabled = </a:t>
            </a:r>
            <a:r>
              <a:rPr lang="en" sz="13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227" name="Google Shape;227;p30"/>
          <p:cNvSpPr/>
          <p:nvPr/>
        </p:nvSpPr>
        <p:spPr>
          <a:xfrm>
            <a:off x="2528325" y="2976375"/>
            <a:ext cx="663000" cy="801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"/>
          <p:cNvSpPr txBox="1"/>
          <p:nvPr>
            <p:ph type="title"/>
          </p:nvPr>
        </p:nvSpPr>
        <p:spPr>
          <a:xfrm>
            <a:off x="311700" y="236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Javascript Guide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1"/>
          <p:cNvSpPr txBox="1"/>
          <p:nvPr>
            <p:ph idx="1" type="body"/>
          </p:nvPr>
        </p:nvSpPr>
        <p:spPr>
          <a:xfrm>
            <a:off x="311700" y="865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000"/>
              <a:buFont typeface="Roboto"/>
              <a:buChar char="●"/>
            </a:pPr>
            <a:r>
              <a:rPr lang="en" sz="17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Shorter is better, but more readable is best.</a:t>
            </a:r>
            <a:endParaRPr sz="17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31"/>
          <p:cNvSpPr txBox="1"/>
          <p:nvPr>
            <p:ph idx="1" type="body"/>
          </p:nvPr>
        </p:nvSpPr>
        <p:spPr>
          <a:xfrm>
            <a:off x="2226000" y="1494500"/>
            <a:ext cx="4214100" cy="19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1F2328"/>
                </a:solidFill>
                <a:highlight>
                  <a:srgbClr val="FFFFFF"/>
                </a:highlight>
              </a:rPr>
              <a:t>if (name.length &amp;&amp; comment.length) {</a:t>
            </a:r>
            <a:endParaRPr sz="14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45720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1F2328"/>
                </a:solidFill>
                <a:highlight>
                  <a:srgbClr val="FFFFFF"/>
                </a:highlight>
              </a:rPr>
              <a:t>commentButton.disabled = false;</a:t>
            </a:r>
            <a:endParaRPr sz="14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1F2328"/>
                </a:solidFill>
                <a:highlight>
                  <a:srgbClr val="FFFFFF"/>
                </a:highlight>
              </a:rPr>
              <a:t>} else {</a:t>
            </a:r>
            <a:endParaRPr sz="14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45720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1F2328"/>
                </a:solidFill>
                <a:highlight>
                  <a:srgbClr val="FFFFFF"/>
                </a:highlight>
              </a:rPr>
              <a:t>commentButton.disabled = true;</a:t>
            </a:r>
            <a:endParaRPr sz="14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1F2328"/>
                </a:solidFill>
                <a:highlight>
                  <a:srgbClr val="FFFFFF"/>
                </a:highlight>
              </a:rPr>
              <a:t>}</a:t>
            </a:r>
            <a:endParaRPr sz="14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31"/>
          <p:cNvSpPr txBox="1"/>
          <p:nvPr>
            <p:ph idx="1" type="body"/>
          </p:nvPr>
        </p:nvSpPr>
        <p:spPr>
          <a:xfrm>
            <a:off x="1325550" y="4247600"/>
            <a:ext cx="5767200" cy="7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1F2328"/>
                </a:solidFill>
                <a:highlight>
                  <a:srgbClr val="FFFFFF"/>
                </a:highlight>
              </a:rPr>
              <a:t>commentButton.disabled = !(name.length &amp;&amp; comment.length);</a:t>
            </a:r>
            <a:endParaRPr sz="14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31"/>
          <p:cNvSpPr/>
          <p:nvPr/>
        </p:nvSpPr>
        <p:spPr>
          <a:xfrm>
            <a:off x="3536300" y="3167125"/>
            <a:ext cx="427800" cy="911700"/>
          </a:xfrm>
          <a:prstGeom prst="upDownArrow">
            <a:avLst>
              <a:gd fmla="val 41939" name="adj1"/>
              <a:gd fmla="val 4516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 txBox="1"/>
          <p:nvPr>
            <p:ph type="title"/>
          </p:nvPr>
        </p:nvSpPr>
        <p:spPr>
          <a:xfrm>
            <a:off x="311700" y="236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Javascript Guide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2"/>
          <p:cNvSpPr txBox="1"/>
          <p:nvPr>
            <p:ph idx="1" type="body"/>
          </p:nvPr>
        </p:nvSpPr>
        <p:spPr>
          <a:xfrm>
            <a:off x="311700" y="736100"/>
            <a:ext cx="8520600" cy="43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000"/>
              <a:buFont typeface="Roboto"/>
              <a:buChar char="●"/>
            </a:pPr>
            <a:r>
              <a:rPr lang="en" sz="17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Always use the array literal method when creating arrays instead of new Array().</a:t>
            </a:r>
            <a:endParaRPr sz="17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Use camel case for object property key.</a:t>
            </a:r>
            <a:endParaRPr sz="17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 format for JS object property should be:</a:t>
            </a:r>
            <a:endParaRPr sz="17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property_name: &lt;value&gt;</a:t>
            </a:r>
            <a:endParaRPr sz="17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700"/>
              <a:buFont typeface="Roboto"/>
              <a:buChar char="○"/>
            </a:pPr>
            <a:r>
              <a:rPr lang="en" sz="17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There should be no space after property_name</a:t>
            </a:r>
            <a:endParaRPr sz="17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700"/>
              <a:buFont typeface="Roboto"/>
              <a:buChar char="○"/>
            </a:pPr>
            <a:r>
              <a:rPr lang="en" sz="17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There should be a single space after colon.</a:t>
            </a:r>
            <a:endParaRPr sz="17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Do not use arrow function as a method of an object.</a:t>
            </a:r>
            <a:endParaRPr sz="17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Use dot notation in accessing object properties.</a:t>
            </a:r>
            <a:endParaRPr sz="17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Avoid magic values, use constant values instead.</a:t>
            </a:r>
            <a:endParaRPr sz="17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Use chaining as much as possible.</a:t>
            </a:r>
            <a:endParaRPr sz="17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Design related attributes such as width and height should be set in CSS, not in HTML.</a:t>
            </a:r>
            <a:endParaRPr sz="17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3"/>
          <p:cNvSpPr txBox="1"/>
          <p:nvPr>
            <p:ph type="title"/>
          </p:nvPr>
        </p:nvSpPr>
        <p:spPr>
          <a:xfrm>
            <a:off x="311700" y="236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Javascript Guide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3"/>
          <p:cNvSpPr txBox="1"/>
          <p:nvPr>
            <p:ph idx="1" type="body"/>
          </p:nvPr>
        </p:nvSpPr>
        <p:spPr>
          <a:xfrm>
            <a:off x="311700" y="657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000"/>
              <a:buFont typeface="Roboto"/>
              <a:buChar char="●"/>
            </a:pPr>
            <a:r>
              <a:rPr lang="en" sz="17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Format conditionals properly</a:t>
            </a:r>
            <a:endParaRPr sz="17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33"/>
          <p:cNvSpPr txBox="1"/>
          <p:nvPr>
            <p:ph idx="1" type="body"/>
          </p:nvPr>
        </p:nvSpPr>
        <p:spPr>
          <a:xfrm>
            <a:off x="1382850" y="1229900"/>
            <a:ext cx="6378300" cy="1760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(nameInput.value.length &amp;&amp; comment.value.length) {</a:t>
            </a:r>
            <a:endParaRPr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document.getElementById(</a:t>
            </a:r>
            <a:r>
              <a:rPr lang="en" sz="11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"submit_button"</a:t>
            </a:r>
            <a:r>
              <a:rPr lang="en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).disabled = </a:t>
            </a:r>
            <a:r>
              <a:rPr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document.getElementById(</a:t>
            </a:r>
            <a:r>
              <a:rPr lang="en" sz="11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"submit_button"</a:t>
            </a:r>
            <a:r>
              <a:rPr lang="en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).disabled = </a:t>
            </a:r>
            <a:r>
              <a:rPr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0" name="Google Shape;250;p33"/>
          <p:cNvSpPr txBox="1"/>
          <p:nvPr>
            <p:ph idx="1" type="body"/>
          </p:nvPr>
        </p:nvSpPr>
        <p:spPr>
          <a:xfrm>
            <a:off x="1382850" y="3445000"/>
            <a:ext cx="6378300" cy="15087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(nameInput.value.length &amp;&amp; comment.value.length) {</a:t>
            </a:r>
            <a:endParaRPr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document.getElementById(</a:t>
            </a:r>
            <a:r>
              <a:rPr lang="en" sz="11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"submit_button"</a:t>
            </a:r>
            <a:r>
              <a:rPr lang="en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).disabled = </a:t>
            </a:r>
            <a:r>
              <a:rPr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document.getElementById(</a:t>
            </a:r>
            <a:r>
              <a:rPr lang="en" sz="11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"submit_button"</a:t>
            </a:r>
            <a:r>
              <a:rPr lang="en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).disabled = </a:t>
            </a:r>
            <a:r>
              <a:rPr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1" name="Google Shape;251;p33"/>
          <p:cNvSpPr/>
          <p:nvPr/>
        </p:nvSpPr>
        <p:spPr>
          <a:xfrm>
            <a:off x="4117075" y="3056375"/>
            <a:ext cx="548700" cy="332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 txBox="1"/>
          <p:nvPr>
            <p:ph type="title"/>
          </p:nvPr>
        </p:nvSpPr>
        <p:spPr>
          <a:xfrm>
            <a:off x="311700" y="236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Javascript Guide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4"/>
          <p:cNvSpPr txBox="1"/>
          <p:nvPr>
            <p:ph idx="1" type="body"/>
          </p:nvPr>
        </p:nvSpPr>
        <p:spPr>
          <a:xfrm>
            <a:off x="311700" y="733400"/>
            <a:ext cx="8520600" cy="6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000"/>
              <a:buFont typeface="Roboto"/>
              <a:buChar char="●"/>
            </a:pPr>
            <a:r>
              <a:rPr lang="en" sz="17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Consider adding line spaces between code and code groups for readability.</a:t>
            </a:r>
            <a:endParaRPr sz="17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58" name="Google Shape;258;p34"/>
          <p:cNvGrpSpPr/>
          <p:nvPr/>
        </p:nvGrpSpPr>
        <p:grpSpPr>
          <a:xfrm>
            <a:off x="311700" y="1265775"/>
            <a:ext cx="8285950" cy="3669675"/>
            <a:chOff x="311700" y="1265775"/>
            <a:chExt cx="8285950" cy="3669675"/>
          </a:xfrm>
        </p:grpSpPr>
        <p:sp>
          <p:nvSpPr>
            <p:cNvPr id="259" name="Google Shape;259;p34"/>
            <p:cNvSpPr/>
            <p:nvPr/>
          </p:nvSpPr>
          <p:spPr>
            <a:xfrm>
              <a:off x="4345675" y="2473450"/>
              <a:ext cx="226200" cy="9210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60" name="Google Shape;260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1700" y="1730600"/>
              <a:ext cx="3748224" cy="310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1" name="Google Shape;26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667125" y="1265775"/>
              <a:ext cx="3930525" cy="36696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5"/>
          <p:cNvSpPr txBox="1"/>
          <p:nvPr>
            <p:ph type="title"/>
          </p:nvPr>
        </p:nvSpPr>
        <p:spPr>
          <a:xfrm>
            <a:off x="311700" y="84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Javascript Guide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5"/>
          <p:cNvSpPr txBox="1"/>
          <p:nvPr>
            <p:ph idx="1" type="body"/>
          </p:nvPr>
        </p:nvSpPr>
        <p:spPr>
          <a:xfrm>
            <a:off x="119775" y="581000"/>
            <a:ext cx="8712600" cy="7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700"/>
              <a:buFont typeface="Roboto"/>
              <a:buChar char="●"/>
            </a:pPr>
            <a:r>
              <a:rPr lang="en" sz="14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When you use try…catch statement, add only the statement that will throw an error. Mover other statements outside the try…catch block.</a:t>
            </a:r>
            <a:endParaRPr sz="14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8" name="Google Shape;26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525" y="1357100"/>
            <a:ext cx="3999178" cy="31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8925" y="1096800"/>
            <a:ext cx="3211876" cy="3519601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5"/>
          <p:cNvSpPr/>
          <p:nvPr/>
        </p:nvSpPr>
        <p:spPr>
          <a:xfrm>
            <a:off x="4315700" y="2142450"/>
            <a:ext cx="1021800" cy="845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5"/>
          <p:cNvSpPr txBox="1"/>
          <p:nvPr>
            <p:ph idx="1" type="body"/>
          </p:nvPr>
        </p:nvSpPr>
        <p:spPr>
          <a:xfrm>
            <a:off x="311700" y="4686300"/>
            <a:ext cx="85206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This may seem longer but a longer code is better than nested code. This will help you avoid adding a try…catch in another try…catch.</a:t>
            </a:r>
            <a:endParaRPr sz="11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6"/>
          <p:cNvSpPr txBox="1"/>
          <p:nvPr>
            <p:ph type="title"/>
          </p:nvPr>
        </p:nvSpPr>
        <p:spPr>
          <a:xfrm>
            <a:off x="311700" y="8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Javascript Guide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6"/>
          <p:cNvSpPr txBox="1"/>
          <p:nvPr>
            <p:ph idx="1" type="body"/>
          </p:nvPr>
        </p:nvSpPr>
        <p:spPr>
          <a:xfrm>
            <a:off x="119775" y="504800"/>
            <a:ext cx="8712600" cy="7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Refrain creating a named function inside another function.</a:t>
            </a:r>
            <a:endParaRPr sz="14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Instead, move the function into a global scope and call it in the funtion.</a:t>
            </a:r>
            <a:endParaRPr sz="14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78" name="Google Shape;278;p36"/>
          <p:cNvGrpSpPr/>
          <p:nvPr/>
        </p:nvGrpSpPr>
        <p:grpSpPr>
          <a:xfrm>
            <a:off x="152400" y="1179325"/>
            <a:ext cx="8679950" cy="2026587"/>
            <a:chOff x="43575" y="1848370"/>
            <a:chExt cx="8679950" cy="1878905"/>
          </a:xfrm>
        </p:grpSpPr>
        <p:sp>
          <p:nvSpPr>
            <p:cNvPr id="279" name="Google Shape;279;p36"/>
            <p:cNvSpPr txBox="1"/>
            <p:nvPr/>
          </p:nvSpPr>
          <p:spPr>
            <a:xfrm>
              <a:off x="43575" y="1848375"/>
              <a:ext cx="4452300" cy="18789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document.addEventListener('DOMContentLoaded', function () {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	...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	function sortComments(order) {...}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	...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	function sortComments(order);	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	...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	function getCurrentDate() {...}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	...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	function getCurrentDate();	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});</a:t>
              </a:r>
              <a:endParaRPr sz="1100">
                <a:solidFill>
                  <a:schemeClr val="dk1"/>
                </a:solidFill>
              </a:endParaRPr>
            </a:p>
          </p:txBody>
        </p:sp>
        <p:sp>
          <p:nvSpPr>
            <p:cNvPr id="280" name="Google Shape;280;p36"/>
            <p:cNvSpPr/>
            <p:nvPr/>
          </p:nvSpPr>
          <p:spPr>
            <a:xfrm>
              <a:off x="3872644" y="2561913"/>
              <a:ext cx="543300" cy="451800"/>
            </a:xfrm>
            <a:prstGeom prst="rightArrow">
              <a:avLst>
                <a:gd fmla="val 25990" name="adj1"/>
                <a:gd fmla="val 50000" name="adj2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36"/>
            <p:cNvSpPr txBox="1"/>
            <p:nvPr/>
          </p:nvSpPr>
          <p:spPr>
            <a:xfrm>
              <a:off x="4535225" y="1848370"/>
              <a:ext cx="4188300" cy="18789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document.addEventListener('DOMContentLoaded', function () {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	...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	sortComments(order);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	getCurrentDate();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});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function sortComments(order) {...}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function getCurrentDate() {...}</a:t>
              </a:r>
              <a:endParaRPr sz="1100">
                <a:solidFill>
                  <a:schemeClr val="dk1"/>
                </a:solidFill>
              </a:endParaRPr>
            </a:p>
          </p:txBody>
        </p:sp>
      </p:grpSp>
      <p:sp>
        <p:nvSpPr>
          <p:cNvPr id="282" name="Google Shape;282;p36"/>
          <p:cNvSpPr txBox="1"/>
          <p:nvPr>
            <p:ph idx="1" type="body"/>
          </p:nvPr>
        </p:nvSpPr>
        <p:spPr>
          <a:xfrm>
            <a:off x="43500" y="3181925"/>
            <a:ext cx="8712600" cy="3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Unnamed functions(function expressions and arrow functions) are exceptions.</a:t>
            </a:r>
            <a:endParaRPr sz="14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83" name="Google Shape;283;p36"/>
          <p:cNvGrpSpPr/>
          <p:nvPr/>
        </p:nvGrpSpPr>
        <p:grpSpPr>
          <a:xfrm>
            <a:off x="2284094" y="2814530"/>
            <a:ext cx="5110927" cy="291206"/>
            <a:chOff x="2284094" y="2814530"/>
            <a:chExt cx="5110927" cy="291206"/>
          </a:xfrm>
        </p:grpSpPr>
        <p:pic>
          <p:nvPicPr>
            <p:cNvPr id="284" name="Google Shape;284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284094" y="2814542"/>
              <a:ext cx="290231" cy="2911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" name="Google Shape;28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084063" y="2814530"/>
              <a:ext cx="310958" cy="29119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6" name="Google Shape;286;p36"/>
          <p:cNvGrpSpPr/>
          <p:nvPr/>
        </p:nvGrpSpPr>
        <p:grpSpPr>
          <a:xfrm>
            <a:off x="431100" y="3556625"/>
            <a:ext cx="8055575" cy="1421400"/>
            <a:chOff x="431100" y="3632825"/>
            <a:chExt cx="8055575" cy="1421400"/>
          </a:xfrm>
        </p:grpSpPr>
        <p:sp>
          <p:nvSpPr>
            <p:cNvPr id="287" name="Google Shape;287;p36"/>
            <p:cNvSpPr txBox="1"/>
            <p:nvPr/>
          </p:nvSpPr>
          <p:spPr>
            <a:xfrm>
              <a:off x="431100" y="3632825"/>
              <a:ext cx="3581700" cy="14214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startButton.addEventListener("click", function () {</a:t>
              </a:r>
              <a:endParaRPr sz="12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   timer = setInterval(</a:t>
              </a:r>
              <a:r>
                <a:rPr lang="en" sz="1200">
                  <a:solidFill>
                    <a:schemeClr val="dk1"/>
                  </a:solidFill>
                  <a:highlight>
                    <a:schemeClr val="accent6"/>
                  </a:highlight>
                </a:rPr>
                <a:t>function(){</a:t>
              </a:r>
              <a:endParaRPr sz="1200">
                <a:solidFill>
                  <a:schemeClr val="dk1"/>
                </a:solidFill>
                <a:highlight>
                  <a:schemeClr val="accent6"/>
                </a:highlight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highlight>
                    <a:schemeClr val="accent6"/>
                  </a:highlight>
                </a:rPr>
                <a:t>      console.log("Hello World!");</a:t>
              </a:r>
              <a:endParaRPr sz="1200">
                <a:solidFill>
                  <a:schemeClr val="dk1"/>
                </a:solidFill>
                <a:highlight>
                  <a:schemeClr val="accent6"/>
                </a:highlight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highlight>
                    <a:schemeClr val="accent6"/>
                  </a:highlight>
                </a:rPr>
                <a:t>   }</a:t>
              </a:r>
              <a:r>
                <a:rPr lang="en" sz="1200">
                  <a:solidFill>
                    <a:schemeClr val="dk1"/>
                  </a:solidFill>
                </a:rPr>
                <a:t>, 3000);</a:t>
              </a:r>
              <a:endParaRPr sz="12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}			      // function expression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288" name="Google Shape;288;p36"/>
            <p:cNvSpPr txBox="1"/>
            <p:nvPr/>
          </p:nvSpPr>
          <p:spPr>
            <a:xfrm>
              <a:off x="4904975" y="3632825"/>
              <a:ext cx="3581700" cy="14214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function runTimer() {</a:t>
              </a:r>
              <a:endParaRPr sz="12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   setTimeout(</a:t>
              </a:r>
              <a:r>
                <a:rPr lang="en" sz="1200">
                  <a:solidFill>
                    <a:schemeClr val="dk1"/>
                  </a:solidFill>
                  <a:highlight>
                    <a:schemeClr val="accent6"/>
                  </a:highlight>
                </a:rPr>
                <a:t>()=&gt; console.log("Hello!")</a:t>
              </a:r>
              <a:r>
                <a:rPr lang="en" sz="1200">
                  <a:solidFill>
                    <a:schemeClr val="dk1"/>
                  </a:solidFill>
                </a:rPr>
                <a:t>, 5000);</a:t>
              </a:r>
              <a:endParaRPr sz="12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}</a:t>
              </a:r>
              <a:endParaRPr sz="12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				  // arrow function</a:t>
              </a:r>
              <a:endParaRPr sz="1200">
                <a:solidFill>
                  <a:schemeClr val="dk1"/>
                </a:solidFill>
              </a:endParaRPr>
            </a:p>
          </p:txBody>
        </p:sp>
        <p:pic>
          <p:nvPicPr>
            <p:cNvPr id="289" name="Google Shape;28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31288" y="4707180"/>
              <a:ext cx="310958" cy="2911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0" name="Google Shape;29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075688" y="4707180"/>
              <a:ext cx="310958" cy="29119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7"/>
          <p:cNvSpPr txBox="1"/>
          <p:nvPr>
            <p:ph type="title"/>
          </p:nvPr>
        </p:nvSpPr>
        <p:spPr>
          <a:xfrm>
            <a:off x="311700" y="236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Guidelines</a:t>
            </a:r>
            <a:endParaRPr/>
          </a:p>
        </p:txBody>
      </p:sp>
      <p:sp>
        <p:nvSpPr>
          <p:cNvPr id="296" name="Google Shape;296;p37"/>
          <p:cNvSpPr txBox="1"/>
          <p:nvPr>
            <p:ph idx="1" type="body"/>
          </p:nvPr>
        </p:nvSpPr>
        <p:spPr>
          <a:xfrm>
            <a:off x="311700" y="888550"/>
            <a:ext cx="8520600" cy="39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Remove unnecessary/excessive lines and spacing. Max of 1 extra new line for readability purpose.</a:t>
            </a:r>
            <a:endParaRPr sz="20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All files should be named in snake case, all lower case.</a:t>
            </a:r>
            <a:endParaRPr sz="20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Remove unnecessary files in the repo.</a:t>
            </a:r>
            <a:endParaRPr sz="20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Use descriptive variable names: what they contain</a:t>
            </a:r>
            <a:endParaRPr sz="20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Use descriptive function names: what they do</a:t>
            </a:r>
            <a:endParaRPr sz="20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For boolean variables and functions, make the name answerable by yes or no. Ex. isValid, hasProperty, isOnline()</a:t>
            </a:r>
            <a:endParaRPr sz="20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8"/>
          <p:cNvSpPr txBox="1"/>
          <p:nvPr>
            <p:ph type="title"/>
          </p:nvPr>
        </p:nvSpPr>
        <p:spPr>
          <a:xfrm>
            <a:off x="311700" y="236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General Guidelines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8"/>
          <p:cNvSpPr txBox="1"/>
          <p:nvPr>
            <p:ph idx="1" type="body"/>
          </p:nvPr>
        </p:nvSpPr>
        <p:spPr>
          <a:xfrm>
            <a:off x="311700" y="733400"/>
            <a:ext cx="8520600" cy="9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000"/>
              <a:buFont typeface="Roboto"/>
              <a:buChar char="●"/>
            </a:pPr>
            <a:r>
              <a:rPr lang="en" sz="17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CSS is for styling. Do not modify styles in JS. You can only add and remove classes in JS. The code below is not a good practice.</a:t>
            </a:r>
            <a:endParaRPr sz="17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3" name="Google Shape;30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6825" y="1856325"/>
            <a:ext cx="5734050" cy="1114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8"/>
          <p:cNvSpPr txBox="1"/>
          <p:nvPr/>
        </p:nvSpPr>
        <p:spPr>
          <a:xfrm>
            <a:off x="205750" y="3036000"/>
            <a:ext cx="8110800" cy="18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If you need to add something that needs to be done, add a TODO comment with the format:</a:t>
            </a:r>
            <a:endParaRPr sz="16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&lt;!-- TODO(Lastname, Givenname): What needs to be done --&gt; - For HTML</a:t>
            </a:r>
            <a:endParaRPr sz="16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// TODO(Lastname, Givenname): What needs to be done - For TS and JS</a:t>
            </a:r>
            <a:endParaRPr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9"/>
          <p:cNvSpPr txBox="1"/>
          <p:nvPr>
            <p:ph type="title"/>
          </p:nvPr>
        </p:nvSpPr>
        <p:spPr>
          <a:xfrm>
            <a:off x="311700" y="84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General Guidelines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9"/>
          <p:cNvSpPr txBox="1"/>
          <p:nvPr>
            <p:ph idx="1" type="body"/>
          </p:nvPr>
        </p:nvSpPr>
        <p:spPr>
          <a:xfrm>
            <a:off x="119775" y="581000"/>
            <a:ext cx="8712600" cy="43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Place all your assets into a common folder so it won't clutter your project directory.</a:t>
            </a:r>
            <a:endParaRPr sz="15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385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500"/>
              <a:buFont typeface="Roboto"/>
              <a:buChar char="○"/>
            </a:pPr>
            <a:r>
              <a:rPr lang="en" sz="15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/image or /asset</a:t>
            </a:r>
            <a:endParaRPr sz="15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3850" lvl="2" marL="1371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500"/>
              <a:buFont typeface="Roboto"/>
              <a:buChar char="■"/>
            </a:pPr>
            <a:r>
              <a:rPr lang="en" sz="15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contains all the images</a:t>
            </a:r>
            <a:endParaRPr sz="15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385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500"/>
              <a:buFont typeface="Roboto"/>
              <a:buChar char="○"/>
            </a:pPr>
            <a:r>
              <a:rPr lang="en" sz="15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/js or /script</a:t>
            </a:r>
            <a:endParaRPr sz="15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3850" lvl="2" marL="1371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500"/>
              <a:buFont typeface="Roboto"/>
              <a:buChar char="■"/>
            </a:pPr>
            <a:r>
              <a:rPr lang="en" sz="15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contains all the JS files</a:t>
            </a:r>
            <a:endParaRPr sz="15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385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500"/>
              <a:buFont typeface="Roboto"/>
              <a:buChar char="○"/>
            </a:pPr>
            <a:r>
              <a:rPr lang="en" sz="15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/style</a:t>
            </a:r>
            <a:endParaRPr sz="15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3850" lvl="2" marL="1371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500"/>
              <a:buFont typeface="Roboto"/>
              <a:buChar char="■"/>
            </a:pPr>
            <a:r>
              <a:rPr lang="en" sz="15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contains all the CSS files</a:t>
            </a:r>
            <a:endParaRPr sz="1500">
              <a:solidFill>
                <a:srgbClr val="1B1B1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B1B1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If you have one JS or CSS, you don't have to put in a separate directory. Simply put it in the same directory with your HTML file.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Remove dead and unnecessary codes and HTML elements.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Add space between ) and { in functions and code blocks.</a:t>
            </a:r>
            <a:endParaRPr sz="15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	</a:t>
            </a: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(confirmDelete){}   → </a:t>
            </a: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(confirmDelete) {}</a:t>
            </a:r>
            <a:endParaRPr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 txBox="1"/>
          <p:nvPr>
            <p:ph type="title"/>
          </p:nvPr>
        </p:nvSpPr>
        <p:spPr>
          <a:xfrm>
            <a:off x="311700" y="236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we have to follow guidelines?</a:t>
            </a:r>
            <a:endParaRPr/>
          </a:p>
        </p:txBody>
      </p:sp>
      <p:sp>
        <p:nvSpPr>
          <p:cNvPr id="316" name="Google Shape;316;p40"/>
          <p:cNvSpPr txBox="1"/>
          <p:nvPr>
            <p:ph idx="1" type="body"/>
          </p:nvPr>
        </p:nvSpPr>
        <p:spPr>
          <a:xfrm>
            <a:off x="311700" y="888550"/>
            <a:ext cx="8520600" cy="323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1B1B1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READABILITY!!!</a:t>
            </a:r>
            <a:endParaRPr b="1" sz="5000">
              <a:solidFill>
                <a:srgbClr val="1B1B1B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LSUD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